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and introduce SmartShelf as a complete, working web-based library management system built from core web technologies — no frameworks. Note the module (HDIT 21193, User Experience and Interface Design) and that this is a full application,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manual library processes are familiar but increasingly inadequate. Contrast the manual way with the SmartShelf way. Emphasise the deliberate choice to build with core web technologies (HTML, CSS, JS, PHP, MySQL) rather than a framework — this shows genuine understanding and full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recurring deficiencies of traditional systems. Stress that each was treated as a firm design requirement, not an optional extra. These six problems map directly to the features shown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single overarching aim, then run through the six objectives. Point out that the objectives correspond one-to-one with the problems on the previous slide — every problem has a matching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boundaries. Everything in the borrowing lifecycle is in scope. The three exclusions were deliberate choices to keep the project focused and achievable, and each is a sensible direction for future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roles and the cumulative access model: librarians can do everything members can, administrators everything librarians can, plus extra privileges. Mention that access control is enforced throughout and unauthorised requests are redirected.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four core capabilities. Highlight two design decisions: available-copy counts update in real time, and fines are recalculated at every login so the member always sees an accurate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features lift the system above the merely functional. Call out QR-code identification, the recommendation engine and the digital library as the three that go well beyond the assignment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borrowing journey end to end: search, check availability, issue, stock update, reminders, return and fine check. Emphasise that these steps are fully automated and that the reservation queue handles the unavailable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three-tier architecture matters: presentation, logic and data are kept independent, so each can change without disturbing the others. This separation makes the system easier to maintain and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five technologies and the layer each serves. Then land the key message in the banner: choosing no framework was deliberate — it proves genuine understanding and gives full control over every part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relational schema has eleven tables — well beyond the three required. Data is normalised so each fact is stored once. Highlight the neat touch: borrowing dates are generated relative to import date, so the demo data always looks current and overdue detection works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foundation, not an afterthought, because the system holds personal accounts. Run through the six measures against the most common web threats. Close with the point about client- and server-side validation, PHP being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 UX &amp; interface design module, emphasise the deliberate design work: a bespoke design system for coherence, a fully responsive layout, and thoughtful interactive details plus light/dark modes for comfort and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things that distinguish SmartShelf: it is genuinely complete, it exceeds the requirements, and it has been tested end to end against a live database. This is a deployable system, not a surface-level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core message: SmartShelf modernises library management in one secure, responsive, complete application that meets and exceeds the brief. 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B"/>
        </a:solidFill>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0F766E">
              <a:alpha val="22000"/>
            </a:srgbClr>
          </a:solidFill>
          <a:ln/>
        </p:spPr>
      </p:sp>
      <p:sp>
        <p:nvSpPr>
          <p:cNvPr id="3" name="Shape 1"/>
          <p:cNvSpPr/>
          <p:nvPr/>
        </p:nvSpPr>
        <p:spPr>
          <a:xfrm>
            <a:off x="10607040" y="4023360"/>
            <a:ext cx="3291840" cy="3291840"/>
          </a:xfrm>
          <a:prstGeom prst="ellipse">
            <a:avLst/>
          </a:prstGeom>
          <a:solidFill>
            <a:srgbClr val="14B8A6">
              <a:alpha val="16000"/>
            </a:srgbClr>
          </a:solidFill>
          <a:ln/>
        </p:spPr>
      </p:sp>
      <p:sp>
        <p:nvSpPr>
          <p:cNvPr id="4" name="Shape 2"/>
          <p:cNvSpPr/>
          <p:nvPr/>
        </p:nvSpPr>
        <p:spPr>
          <a:xfrm>
            <a:off x="-1188720" y="4572000"/>
            <a:ext cx="3657600" cy="3657600"/>
          </a:xfrm>
          <a:prstGeom prst="ellipse">
            <a:avLst/>
          </a:prstGeom>
          <a:solidFill>
            <a:srgbClr val="0F766E">
              <a:alpha val="18000"/>
            </a:srgbClr>
          </a:solidFill>
          <a:ln/>
        </p:spPr>
      </p:sp>
      <p:sp>
        <p:nvSpPr>
          <p:cNvPr id="5" name="Shape 3"/>
          <p:cNvSpPr/>
          <p:nvPr/>
        </p:nvSpPr>
        <p:spPr>
          <a:xfrm>
            <a:off x="822960" y="1051560"/>
            <a:ext cx="1051560" cy="1051560"/>
          </a:xfrm>
          <a:prstGeom prst="ellipse">
            <a:avLst/>
          </a:prstGeom>
          <a:solidFill>
            <a:srgbClr val="0F766E"/>
          </a:solidFill>
          <a:ln/>
          <a:effectLst>
            <a:outerShdw sx="100000" sy="100000" kx="0" ky="0" algn="bl" rotWithShape="0" blurRad="114300" dist="38100" dir="5400000">
              <a:srgbClr val="1E293B">
                <a:alpha val="16000"/>
              </a:srgbClr>
            </a:outerShdw>
          </a:effectLst>
        </p:spPr>
      </p:sp>
      <p:pic>
        <p:nvPicPr>
          <p:cNvPr id="6" name="Image 0" descr="preencoded.png">    </p:cNvPr>
          <p:cNvPicPr>
            <a:picLocks noChangeAspect="1"/>
          </p:cNvPicPr>
          <p:nvPr/>
        </p:nvPicPr>
        <p:blipFill>
          <a:blip r:embed="rId1"/>
          <a:stretch>
            <a:fillRect/>
          </a:stretch>
        </p:blipFill>
        <p:spPr>
          <a:xfrm>
            <a:off x="1096366" y="1324966"/>
            <a:ext cx="504749" cy="504749"/>
          </a:xfrm>
          <a:prstGeom prst="rect">
            <a:avLst/>
          </a:prstGeom>
        </p:spPr>
      </p:pic>
      <p:sp>
        <p:nvSpPr>
          <p:cNvPr id="7" name="Text 4"/>
          <p:cNvSpPr/>
          <p:nvPr/>
        </p:nvSpPr>
        <p:spPr>
          <a:xfrm>
            <a:off x="777240" y="2331720"/>
            <a:ext cx="10607040" cy="1280160"/>
          </a:xfrm>
          <a:prstGeom prst="rect">
            <a:avLst/>
          </a:prstGeom>
          <a:noFill/>
          <a:ln/>
        </p:spPr>
        <p:txBody>
          <a:bodyPr wrap="square" rtlCol="0" anchor="ctr"/>
          <a:lstStyle/>
          <a:p>
            <a:pPr algn="l" indent="0" marL="0">
              <a:buNone/>
            </a:pPr>
            <a:r>
              <a:rPr lang="en-US" sz="6600" b="1" spc="200" kern="0" dirty="0">
                <a:solidFill>
                  <a:srgbClr val="FFFFFF"/>
                </a:solidFill>
                <a:latin typeface="Cambria" pitchFamily="34" charset="0"/>
                <a:ea typeface="Cambria" pitchFamily="34" charset="-122"/>
                <a:cs typeface="Cambria" pitchFamily="34" charset="-120"/>
              </a:rPr>
              <a:t>SMARTSHELF</a:t>
            </a:r>
            <a:endParaRPr lang="en-US" sz="6600" dirty="0"/>
          </a:p>
        </p:txBody>
      </p:sp>
      <p:sp>
        <p:nvSpPr>
          <p:cNvPr id="8" name="Text 5"/>
          <p:cNvSpPr/>
          <p:nvPr/>
        </p:nvSpPr>
        <p:spPr>
          <a:xfrm>
            <a:off x="822960" y="3611880"/>
            <a:ext cx="10058400" cy="548640"/>
          </a:xfrm>
          <a:prstGeom prst="rect">
            <a:avLst/>
          </a:prstGeom>
          <a:noFill/>
          <a:ln/>
        </p:spPr>
        <p:txBody>
          <a:bodyPr wrap="square" rtlCol="0" anchor="ctr"/>
          <a:lstStyle/>
          <a:p>
            <a:pPr algn="l" indent="0" marL="0">
              <a:buNone/>
            </a:pPr>
            <a:r>
              <a:rPr lang="en-US" sz="2300" dirty="0">
                <a:solidFill>
                  <a:srgbClr val="CCFBF1"/>
                </a:solidFill>
                <a:latin typeface="Calibri" pitchFamily="34" charset="0"/>
                <a:ea typeface="Calibri" pitchFamily="34" charset="-122"/>
                <a:cs typeface="Calibri" pitchFamily="34" charset="-120"/>
              </a:rPr>
              <a:t>A Web-Based Library Management System</a:t>
            </a:r>
            <a:endParaRPr lang="en-US" sz="2300" dirty="0"/>
          </a:p>
        </p:txBody>
      </p:sp>
      <p:sp>
        <p:nvSpPr>
          <p:cNvPr id="9" name="Shape 6"/>
          <p:cNvSpPr/>
          <p:nvPr/>
        </p:nvSpPr>
        <p:spPr>
          <a:xfrm>
            <a:off x="841248" y="4343400"/>
            <a:ext cx="2926080" cy="0"/>
          </a:xfrm>
          <a:prstGeom prst="line">
            <a:avLst/>
          </a:prstGeom>
          <a:noFill/>
          <a:ln w="31750">
            <a:solidFill>
              <a:srgbClr val="D97706"/>
            </a:solidFill>
            <a:prstDash val="solid"/>
          </a:ln>
        </p:spPr>
      </p:sp>
      <p:sp>
        <p:nvSpPr>
          <p:cNvPr id="10" name="Text 7"/>
          <p:cNvSpPr/>
          <p:nvPr/>
        </p:nvSpPr>
        <p:spPr>
          <a:xfrm>
            <a:off x="822960" y="4526280"/>
            <a:ext cx="10058400" cy="365760"/>
          </a:xfrm>
          <a:prstGeom prst="rect">
            <a:avLst/>
          </a:prstGeom>
          <a:noFill/>
          <a:ln/>
        </p:spPr>
        <p:txBody>
          <a:bodyPr wrap="square" rtlCol="0" anchor="ctr"/>
          <a:lstStyle/>
          <a:p>
            <a:pPr algn="l" indent="0" marL="0">
              <a:buNone/>
            </a:pPr>
            <a:r>
              <a:rPr lang="en-US" sz="1400" b="1" spc="300" kern="0" dirty="0">
                <a:solidFill>
                  <a:srgbClr val="94A3B8"/>
                </a:solidFill>
                <a:latin typeface="Calibri" pitchFamily="34" charset="0"/>
                <a:ea typeface="Calibri" pitchFamily="34" charset="-122"/>
                <a:cs typeface="Calibri" pitchFamily="34" charset="-120"/>
              </a:rPr>
              <a:t>PROJECT PROPOSAL REPORT</a:t>
            </a:r>
            <a:endParaRPr lang="en-US" sz="1400" dirty="0"/>
          </a:p>
        </p:txBody>
      </p:sp>
      <p:sp>
        <p:nvSpPr>
          <p:cNvPr id="11" name="Shape 8"/>
          <p:cNvSpPr/>
          <p:nvPr/>
        </p:nvSpPr>
        <p:spPr>
          <a:xfrm>
            <a:off x="822960" y="5257800"/>
            <a:ext cx="1280160" cy="457200"/>
          </a:xfrm>
          <a:prstGeom prst="roundRect">
            <a:avLst>
              <a:gd name="adj" fmla="val 20000"/>
            </a:avLst>
          </a:prstGeom>
          <a:solidFill>
            <a:srgbClr val="FFFFFF">
              <a:alpha val="12000"/>
            </a:srgbClr>
          </a:solidFill>
          <a:ln w="12700">
            <a:solidFill>
              <a:srgbClr val="14B8A6"/>
            </a:solidFill>
            <a:prstDash val="solid"/>
          </a:ln>
        </p:spPr>
      </p:sp>
      <p:sp>
        <p:nvSpPr>
          <p:cNvPr id="12" name="Text 9"/>
          <p:cNvSpPr/>
          <p:nvPr/>
        </p:nvSpPr>
        <p:spPr>
          <a:xfrm>
            <a:off x="822960" y="5257800"/>
            <a:ext cx="1280160" cy="457200"/>
          </a:xfrm>
          <a:prstGeom prst="rect">
            <a:avLst/>
          </a:prstGeom>
          <a:noFill/>
          <a:ln/>
        </p:spPr>
        <p:txBody>
          <a:bodyPr wrap="square" rtlCol="0" anchor="ctr"/>
          <a:lstStyle/>
          <a:p>
            <a:pPr algn="ctr" indent="0" marL="0">
              <a:buNone/>
            </a:pPr>
            <a:r>
              <a:rPr lang="en-US" sz="1150" dirty="0">
                <a:solidFill>
                  <a:srgbClr val="CCFBF1"/>
                </a:solidFill>
                <a:latin typeface="Calibri" pitchFamily="34" charset="0"/>
                <a:ea typeface="Calibri" pitchFamily="34" charset="-122"/>
                <a:cs typeface="Calibri" pitchFamily="34" charset="-120"/>
              </a:rPr>
              <a:t>HDIT 21193</a:t>
            </a:r>
            <a:endParaRPr lang="en-US" sz="1150" dirty="0"/>
          </a:p>
        </p:txBody>
      </p:sp>
      <p:sp>
        <p:nvSpPr>
          <p:cNvPr id="13" name="Shape 10"/>
          <p:cNvSpPr/>
          <p:nvPr/>
        </p:nvSpPr>
        <p:spPr>
          <a:xfrm>
            <a:off x="2331720" y="5257800"/>
            <a:ext cx="3430829" cy="457200"/>
          </a:xfrm>
          <a:prstGeom prst="roundRect">
            <a:avLst>
              <a:gd name="adj" fmla="val 20000"/>
            </a:avLst>
          </a:prstGeom>
          <a:solidFill>
            <a:srgbClr val="FFFFFF">
              <a:alpha val="12000"/>
            </a:srgbClr>
          </a:solidFill>
          <a:ln w="12700">
            <a:solidFill>
              <a:srgbClr val="14B8A6"/>
            </a:solidFill>
            <a:prstDash val="solid"/>
          </a:ln>
        </p:spPr>
      </p:sp>
      <p:sp>
        <p:nvSpPr>
          <p:cNvPr id="14" name="Text 11"/>
          <p:cNvSpPr/>
          <p:nvPr/>
        </p:nvSpPr>
        <p:spPr>
          <a:xfrm>
            <a:off x="2331720" y="5257800"/>
            <a:ext cx="3430829" cy="457200"/>
          </a:xfrm>
          <a:prstGeom prst="rect">
            <a:avLst/>
          </a:prstGeom>
          <a:noFill/>
          <a:ln/>
        </p:spPr>
        <p:txBody>
          <a:bodyPr wrap="square" rtlCol="0" anchor="ctr"/>
          <a:lstStyle/>
          <a:p>
            <a:pPr algn="ctr" indent="0" marL="0">
              <a:buNone/>
            </a:pPr>
            <a:r>
              <a:rPr lang="en-US" sz="1150" dirty="0">
                <a:solidFill>
                  <a:srgbClr val="CCFBF1"/>
                </a:solidFill>
                <a:latin typeface="Calibri" pitchFamily="34" charset="0"/>
                <a:ea typeface="Calibri" pitchFamily="34" charset="-122"/>
                <a:cs typeface="Calibri" pitchFamily="34" charset="-120"/>
              </a:rPr>
              <a:t>User Experience &amp; Interface Design</a:t>
            </a:r>
            <a:endParaRPr lang="en-US" sz="1150" dirty="0"/>
          </a:p>
        </p:txBody>
      </p:sp>
      <p:sp>
        <p:nvSpPr>
          <p:cNvPr id="15" name="Shape 12"/>
          <p:cNvSpPr/>
          <p:nvPr/>
        </p:nvSpPr>
        <p:spPr>
          <a:xfrm>
            <a:off x="5991149" y="5257800"/>
            <a:ext cx="2086661" cy="457200"/>
          </a:xfrm>
          <a:prstGeom prst="roundRect">
            <a:avLst>
              <a:gd name="adj" fmla="val 20000"/>
            </a:avLst>
          </a:prstGeom>
          <a:solidFill>
            <a:srgbClr val="FFFFFF">
              <a:alpha val="12000"/>
            </a:srgbClr>
          </a:solidFill>
          <a:ln w="12700">
            <a:solidFill>
              <a:srgbClr val="14B8A6"/>
            </a:solidFill>
            <a:prstDash val="solid"/>
          </a:ln>
        </p:spPr>
      </p:sp>
      <p:sp>
        <p:nvSpPr>
          <p:cNvPr id="16" name="Text 13"/>
          <p:cNvSpPr/>
          <p:nvPr/>
        </p:nvSpPr>
        <p:spPr>
          <a:xfrm>
            <a:off x="5991149" y="5257800"/>
            <a:ext cx="2086661" cy="457200"/>
          </a:xfrm>
          <a:prstGeom prst="rect">
            <a:avLst/>
          </a:prstGeom>
          <a:noFill/>
          <a:ln/>
        </p:spPr>
        <p:txBody>
          <a:bodyPr wrap="square" rtlCol="0" anchor="ctr"/>
          <a:lstStyle/>
          <a:p>
            <a:pPr algn="ctr" indent="0" marL="0">
              <a:buNone/>
            </a:pPr>
            <a:r>
              <a:rPr lang="en-US" sz="1150" dirty="0">
                <a:solidFill>
                  <a:srgbClr val="CCFBF1"/>
                </a:solidFill>
                <a:latin typeface="Calibri" pitchFamily="34" charset="0"/>
                <a:ea typeface="Calibri" pitchFamily="34" charset="-122"/>
                <a:cs typeface="Calibri" pitchFamily="34" charset="-120"/>
              </a:rPr>
              <a:t>Year 2 · Semester 1</a:t>
            </a:r>
            <a:endParaRPr lang="en-US" sz="1150" dirty="0"/>
          </a:p>
        </p:txBody>
      </p:sp>
      <p:sp>
        <p:nvSpPr>
          <p:cNvPr id="17" name="Shape 14"/>
          <p:cNvSpPr/>
          <p:nvPr/>
        </p:nvSpPr>
        <p:spPr>
          <a:xfrm>
            <a:off x="8306410" y="5257800"/>
            <a:ext cx="2982773" cy="457200"/>
          </a:xfrm>
          <a:prstGeom prst="roundRect">
            <a:avLst>
              <a:gd name="adj" fmla="val 20000"/>
            </a:avLst>
          </a:prstGeom>
          <a:solidFill>
            <a:srgbClr val="FFFFFF">
              <a:alpha val="12000"/>
            </a:srgbClr>
          </a:solidFill>
          <a:ln w="12700">
            <a:solidFill>
              <a:srgbClr val="14B8A6"/>
            </a:solidFill>
            <a:prstDash val="solid"/>
          </a:ln>
        </p:spPr>
      </p:sp>
      <p:sp>
        <p:nvSpPr>
          <p:cNvPr id="18" name="Text 15"/>
          <p:cNvSpPr/>
          <p:nvPr/>
        </p:nvSpPr>
        <p:spPr>
          <a:xfrm>
            <a:off x="8306410" y="5257800"/>
            <a:ext cx="2982773" cy="457200"/>
          </a:xfrm>
          <a:prstGeom prst="rect">
            <a:avLst/>
          </a:prstGeom>
          <a:noFill/>
          <a:ln/>
        </p:spPr>
        <p:txBody>
          <a:bodyPr wrap="square" rtlCol="0" anchor="ctr"/>
          <a:lstStyle/>
          <a:p>
            <a:pPr algn="ctr" indent="0" marL="0">
              <a:buNone/>
            </a:pPr>
            <a:r>
              <a:rPr lang="en-US" sz="1150" dirty="0">
                <a:solidFill>
                  <a:srgbClr val="CCFBF1"/>
                </a:solidFill>
                <a:latin typeface="Calibri" pitchFamily="34" charset="0"/>
                <a:ea typeface="Calibri" pitchFamily="34" charset="-122"/>
                <a:cs typeface="Calibri" pitchFamily="34" charset="-120"/>
              </a:rPr>
              <a:t>HTML · CSS · JS · PHP · MySQL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From Paper Registers to a Modern System</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a:t>
            </a:r>
            <a:endParaRPr lang="en-US" sz="950" dirty="0"/>
          </a:p>
        </p:txBody>
      </p:sp>
      <p:sp>
        <p:nvSpPr>
          <p:cNvPr id="6" name="Text 4"/>
          <p:cNvSpPr/>
          <p:nvPr/>
        </p:nvSpPr>
        <p:spPr>
          <a:xfrm>
            <a:off x="640080" y="1691640"/>
            <a:ext cx="5943600" cy="3474720"/>
          </a:xfrm>
          <a:prstGeom prst="rect">
            <a:avLst/>
          </a:prstGeom>
          <a:noFill/>
          <a:ln/>
        </p:spPr>
        <p:txBody>
          <a:bodyPr wrap="square" rtlCol="0" anchor="ctr"/>
          <a:lstStyle/>
          <a:p>
            <a:pPr algn="l" indent="0" marL="0">
              <a:lnSpc>
                <a:spcPct val="115000"/>
              </a:lnSpc>
              <a:spcAft>
                <a:spcPts val="1000"/>
              </a:spcAft>
              <a:buNone/>
            </a:pPr>
            <a:r>
              <a:rPr lang="en-US" sz="1550" dirty="0">
                <a:solidFill>
                  <a:srgbClr val="0F172A"/>
                </a:solidFill>
                <a:latin typeface="Calibri" pitchFamily="34" charset="0"/>
                <a:ea typeface="Calibri" pitchFamily="34" charset="-122"/>
                <a:cs typeface="Calibri" pitchFamily="34" charset="-120"/>
              </a:rPr>
              <a:t>Traditional libraries still lean on manual, paper-based routines — printed catalogues, hand-written loan registers and fines worked out at the counter.</a:t>
            </a:r>
            <a:endParaRPr lang="en-US" sz="1550" dirty="0"/>
          </a:p>
          <a:p>
            <a:pPr algn="l" indent="0" marL="0">
              <a:lnSpc>
                <a:spcPct val="115000"/>
              </a:lnSpc>
              <a:spcAft>
                <a:spcPts val="1000"/>
              </a:spcAft>
              <a:buNone/>
            </a:pPr>
            <a:r>
              <a:rPr lang="en-US" sz="1550" dirty="0">
                <a:solidFill>
                  <a:srgbClr val="0F172A"/>
                </a:solidFill>
                <a:latin typeface="Calibri" pitchFamily="34" charset="0"/>
                <a:ea typeface="Calibri" pitchFamily="34" charset="-122"/>
                <a:cs typeface="Calibri" pitchFamily="34" charset="-120"/>
              </a:rPr>
              <a:t>These methods work, but they no longer match what readers expect: instant search, self-service access and automatic reminders across every device.</a:t>
            </a:r>
            <a:endParaRPr lang="en-US" sz="1550" dirty="0"/>
          </a:p>
          <a:p>
            <a:pPr algn="l" indent="0" marL="0">
              <a:lnSpc>
                <a:spcPct val="115000"/>
              </a:lnSpc>
              <a:buNone/>
            </a:pPr>
            <a:r>
              <a:rPr lang="en-US" sz="1550" dirty="0">
                <a:solidFill>
                  <a:srgbClr val="0F172A"/>
                </a:solidFill>
                <a:latin typeface="Calibri" pitchFamily="34" charset="0"/>
                <a:ea typeface="Calibri" pitchFamily="34" charset="-122"/>
                <a:cs typeface="Calibri" pitchFamily="34" charset="-120"/>
              </a:rPr>
              <a:t>SmartShelf brings the entire borrowing lifecycle into one secure, responsive web application — built directly with core web technologies to demonstrate real command of how the web works.</a:t>
            </a:r>
            <a:endParaRPr lang="en-US" sz="1550" dirty="0"/>
          </a:p>
        </p:txBody>
      </p:sp>
      <p:sp>
        <p:nvSpPr>
          <p:cNvPr id="7" name="Shape 5"/>
          <p:cNvSpPr/>
          <p:nvPr/>
        </p:nvSpPr>
        <p:spPr>
          <a:xfrm>
            <a:off x="7040880" y="1600200"/>
            <a:ext cx="4572000" cy="1965960"/>
          </a:xfrm>
          <a:prstGeom prst="roundRect">
            <a:avLst>
              <a:gd name="adj" fmla="val 4186"/>
            </a:avLst>
          </a:prstGeom>
          <a:solidFill>
            <a:srgbClr val="FEF3C7"/>
          </a:solidFill>
          <a:ln/>
          <a:effectLst>
            <a:outerShdw sx="100000" sy="100000" kx="0" ky="0" algn="bl" rotWithShape="0" blurRad="114300" dist="38100" dir="5400000">
              <a:srgbClr val="1E293B">
                <a:alpha val="16000"/>
              </a:srgbClr>
            </a:outerShdw>
          </a:effectLst>
        </p:spPr>
      </p:sp>
      <p:sp>
        <p:nvSpPr>
          <p:cNvPr id="8" name="Shape 6"/>
          <p:cNvSpPr/>
          <p:nvPr/>
        </p:nvSpPr>
        <p:spPr>
          <a:xfrm>
            <a:off x="7296912" y="1810512"/>
            <a:ext cx="685800" cy="68580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9" name="Image 0" descr="preencoded.png">    </p:cNvPr>
          <p:cNvPicPr>
            <a:picLocks noChangeAspect="1"/>
          </p:cNvPicPr>
          <p:nvPr/>
        </p:nvPicPr>
        <p:blipFill>
          <a:blip r:embed="rId1"/>
          <a:stretch>
            <a:fillRect/>
          </a:stretch>
        </p:blipFill>
        <p:spPr>
          <a:xfrm>
            <a:off x="7475220" y="1988820"/>
            <a:ext cx="329184" cy="329184"/>
          </a:xfrm>
          <a:prstGeom prst="rect">
            <a:avLst/>
          </a:prstGeom>
        </p:spPr>
      </p:pic>
      <p:sp>
        <p:nvSpPr>
          <p:cNvPr id="10" name="Text 7"/>
          <p:cNvSpPr/>
          <p:nvPr/>
        </p:nvSpPr>
        <p:spPr>
          <a:xfrm>
            <a:off x="8138160" y="1847088"/>
            <a:ext cx="3291840" cy="365760"/>
          </a:xfrm>
          <a:prstGeom prst="rect">
            <a:avLst/>
          </a:prstGeom>
          <a:noFill/>
          <a:ln/>
        </p:spPr>
        <p:txBody>
          <a:bodyPr wrap="square" rtlCol="0" anchor="ctr"/>
          <a:lstStyle/>
          <a:p>
            <a:pPr indent="0" marL="0">
              <a:buNone/>
            </a:pPr>
            <a:r>
              <a:rPr lang="en-US" sz="1700" b="1" dirty="0">
                <a:solidFill>
                  <a:srgbClr val="D97706"/>
                </a:solidFill>
                <a:latin typeface="Cambria" pitchFamily="34" charset="0"/>
                <a:ea typeface="Cambria" pitchFamily="34" charset="-122"/>
                <a:cs typeface="Cambria" pitchFamily="34" charset="-120"/>
              </a:rPr>
              <a:t>The manual way</a:t>
            </a:r>
            <a:endParaRPr lang="en-US" sz="1700" dirty="0"/>
          </a:p>
        </p:txBody>
      </p:sp>
      <p:sp>
        <p:nvSpPr>
          <p:cNvPr id="11" name="Text 8"/>
          <p:cNvSpPr/>
          <p:nvPr/>
        </p:nvSpPr>
        <p:spPr>
          <a:xfrm>
            <a:off x="8138160" y="2286000"/>
            <a:ext cx="3291840" cy="1097280"/>
          </a:xfrm>
          <a:prstGeom prst="rect">
            <a:avLst/>
          </a:prstGeom>
          <a:noFill/>
          <a:ln/>
        </p:spPr>
        <p:txBody>
          <a:bodyPr wrap="square" rtlCol="0" anchor="ctr"/>
          <a:lstStyle/>
          <a:p>
            <a:pPr algn="l" indent="0" marL="0">
              <a:lnSpc>
                <a:spcPct val="110000"/>
              </a:lnSpc>
              <a:buNone/>
            </a:pPr>
            <a:r>
              <a:rPr lang="en-US" sz="1250" dirty="0">
                <a:solidFill>
                  <a:srgbClr val="475569"/>
                </a:solidFill>
                <a:latin typeface="Calibri" pitchFamily="34" charset="0"/>
                <a:ea typeface="Calibri" pitchFamily="34" charset="-122"/>
                <a:cs typeface="Calibri" pitchFamily="34" charset="-120"/>
              </a:rPr>
              <a:t>Slow retrieval · error-prone counts</a:t>
            </a:r>
            <a:endParaRPr lang="en-US" sz="1250" dirty="0"/>
          </a:p>
          <a:p>
            <a:pPr algn="l" indent="0" marL="0">
              <a:lnSpc>
                <a:spcPct val="110000"/>
              </a:lnSpc>
              <a:buNone/>
            </a:pPr>
            <a:r>
              <a:rPr lang="en-US" sz="1250" dirty="0">
                <a:solidFill>
                  <a:srgbClr val="475569"/>
                </a:solidFill>
                <a:latin typeface="Calibri" pitchFamily="34" charset="0"/>
                <a:ea typeface="Calibri" pitchFamily="34" charset="-122"/>
                <a:cs typeface="Calibri" pitchFamily="34" charset="-120"/>
              </a:rPr>
              <a:t>Missed reminders · no digital access</a:t>
            </a:r>
            <a:endParaRPr lang="en-US" sz="1250" dirty="0"/>
          </a:p>
        </p:txBody>
      </p:sp>
      <p:sp>
        <p:nvSpPr>
          <p:cNvPr id="12" name="Shape 9"/>
          <p:cNvSpPr/>
          <p:nvPr/>
        </p:nvSpPr>
        <p:spPr>
          <a:xfrm>
            <a:off x="7040880" y="3794760"/>
            <a:ext cx="4572000" cy="1965960"/>
          </a:xfrm>
          <a:prstGeom prst="roundRect">
            <a:avLst>
              <a:gd name="adj" fmla="val 4186"/>
            </a:avLst>
          </a:prstGeom>
          <a:solidFill>
            <a:srgbClr val="F0FDFA"/>
          </a:solidFill>
          <a:ln/>
          <a:effectLst>
            <a:outerShdw sx="100000" sy="100000" kx="0" ky="0" algn="bl" rotWithShape="0" blurRad="114300" dist="38100" dir="5400000">
              <a:srgbClr val="1E293B">
                <a:alpha val="16000"/>
              </a:srgbClr>
            </a:outerShdw>
          </a:effectLst>
        </p:spPr>
      </p:sp>
      <p:sp>
        <p:nvSpPr>
          <p:cNvPr id="13" name="Shape 10"/>
          <p:cNvSpPr/>
          <p:nvPr/>
        </p:nvSpPr>
        <p:spPr>
          <a:xfrm>
            <a:off x="7296912" y="4005072"/>
            <a:ext cx="685800" cy="68580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4" name="Image 1" descr="preencoded.png">    </p:cNvPr>
          <p:cNvPicPr>
            <a:picLocks noChangeAspect="1"/>
          </p:cNvPicPr>
          <p:nvPr/>
        </p:nvPicPr>
        <p:blipFill>
          <a:blip r:embed="rId2"/>
          <a:stretch>
            <a:fillRect/>
          </a:stretch>
        </p:blipFill>
        <p:spPr>
          <a:xfrm>
            <a:off x="7475220" y="4183380"/>
            <a:ext cx="329184" cy="329184"/>
          </a:xfrm>
          <a:prstGeom prst="rect">
            <a:avLst/>
          </a:prstGeom>
        </p:spPr>
      </p:pic>
      <p:sp>
        <p:nvSpPr>
          <p:cNvPr id="15" name="Text 11"/>
          <p:cNvSpPr/>
          <p:nvPr/>
        </p:nvSpPr>
        <p:spPr>
          <a:xfrm>
            <a:off x="8138160" y="4041648"/>
            <a:ext cx="3291840" cy="365760"/>
          </a:xfrm>
          <a:prstGeom prst="rect">
            <a:avLst/>
          </a:prstGeom>
          <a:noFill/>
          <a:ln/>
        </p:spPr>
        <p:txBody>
          <a:bodyPr wrap="square"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SmartShelf way</a:t>
            </a:r>
            <a:endParaRPr lang="en-US" sz="1700" dirty="0"/>
          </a:p>
        </p:txBody>
      </p:sp>
      <p:sp>
        <p:nvSpPr>
          <p:cNvPr id="16" name="Text 12"/>
          <p:cNvSpPr/>
          <p:nvPr/>
        </p:nvSpPr>
        <p:spPr>
          <a:xfrm>
            <a:off x="8138160" y="4480560"/>
            <a:ext cx="3291840" cy="1097280"/>
          </a:xfrm>
          <a:prstGeom prst="rect">
            <a:avLst/>
          </a:prstGeom>
          <a:noFill/>
          <a:ln/>
        </p:spPr>
        <p:txBody>
          <a:bodyPr wrap="square" rtlCol="0" anchor="ctr"/>
          <a:lstStyle/>
          <a:p>
            <a:pPr algn="l" indent="0" marL="0">
              <a:lnSpc>
                <a:spcPct val="110000"/>
              </a:lnSpc>
              <a:buNone/>
            </a:pPr>
            <a:r>
              <a:rPr lang="en-US" sz="1250" dirty="0">
                <a:solidFill>
                  <a:srgbClr val="475569"/>
                </a:solidFill>
                <a:latin typeface="Calibri" pitchFamily="34" charset="0"/>
                <a:ea typeface="Calibri" pitchFamily="34" charset="-122"/>
                <a:cs typeface="Calibri" pitchFamily="34" charset="-120"/>
              </a:rPr>
              <a:t>Instant search · live availability</a:t>
            </a:r>
            <a:endParaRPr lang="en-US" sz="1250" dirty="0"/>
          </a:p>
          <a:p>
            <a:pPr algn="l" indent="0" marL="0">
              <a:lnSpc>
                <a:spcPct val="110000"/>
              </a:lnSpc>
              <a:buNone/>
            </a:pPr>
            <a:r>
              <a:rPr lang="en-US" sz="1250" dirty="0">
                <a:solidFill>
                  <a:srgbClr val="475569"/>
                </a:solidFill>
                <a:latin typeface="Calibri" pitchFamily="34" charset="0"/>
                <a:ea typeface="Calibri" pitchFamily="34" charset="-122"/>
                <a:cs typeface="Calibri" pitchFamily="34" charset="-120"/>
              </a:rPr>
              <a:t>Automatic fines · eBooks anywhere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PROBLEM STATEMENT</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Six Problems With Conventional Practice</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640080" y="1691640"/>
            <a:ext cx="3611880" cy="1965960"/>
          </a:xfrm>
          <a:prstGeom prst="roundRect">
            <a:avLst>
              <a:gd name="adj" fmla="val 3256"/>
            </a:avLst>
          </a:prstGeom>
          <a:solidFill>
            <a:srgbClr val="F1F5F9"/>
          </a:solidFill>
          <a:ln/>
          <a:effectLst>
            <a:outerShdw sx="100000" sy="100000" kx="0" ky="0" algn="bl" rotWithShape="0" blurRad="114300" dist="38100" dir="5400000">
              <a:srgbClr val="1E293B">
                <a:alpha val="16000"/>
              </a:srgbClr>
            </a:outerShdw>
          </a:effectLst>
        </p:spPr>
      </p:sp>
      <p:sp>
        <p:nvSpPr>
          <p:cNvPr id="7" name="Shape 5"/>
          <p:cNvSpPr/>
          <p:nvPr/>
        </p:nvSpPr>
        <p:spPr>
          <a:xfrm>
            <a:off x="914400" y="1965960"/>
            <a:ext cx="713232" cy="713232"/>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1099840" y="2151400"/>
            <a:ext cx="342351" cy="342351"/>
          </a:xfrm>
          <a:prstGeom prst="rect">
            <a:avLst/>
          </a:prstGeom>
        </p:spPr>
      </p:pic>
      <p:sp>
        <p:nvSpPr>
          <p:cNvPr id="9" name="Text 6"/>
          <p:cNvSpPr/>
          <p:nvPr/>
        </p:nvSpPr>
        <p:spPr>
          <a:xfrm>
            <a:off x="1783080" y="2002536"/>
            <a:ext cx="2286000" cy="640080"/>
          </a:xfrm>
          <a:prstGeom prst="rect">
            <a:avLst/>
          </a:prstGeom>
          <a:noFill/>
          <a:ln/>
        </p:spPr>
        <p:txBody>
          <a:bodyPr wrap="square" rtlCol="0" anchor="t"/>
          <a:lstStyle/>
          <a:p>
            <a:pPr algn="l" indent="0" marL="0">
              <a:buNone/>
            </a:pPr>
            <a:r>
              <a:rPr lang="en-US" sz="1500" b="1" dirty="0">
                <a:solidFill>
                  <a:srgbClr val="12233B"/>
                </a:solidFill>
                <a:latin typeface="Cambria" pitchFamily="34" charset="0"/>
                <a:ea typeface="Cambria" pitchFamily="34" charset="-122"/>
                <a:cs typeface="Cambria" pitchFamily="34" charset="-120"/>
              </a:rPr>
              <a:t>Inefficient searching</a:t>
            </a:r>
            <a:endParaRPr lang="en-US" sz="1500" dirty="0"/>
          </a:p>
        </p:txBody>
      </p:sp>
      <p:sp>
        <p:nvSpPr>
          <p:cNvPr id="10" name="Text 7"/>
          <p:cNvSpPr/>
          <p:nvPr/>
        </p:nvSpPr>
        <p:spPr>
          <a:xfrm>
            <a:off x="914400" y="2788920"/>
            <a:ext cx="3063240" cy="731520"/>
          </a:xfrm>
          <a:prstGeom prst="rect">
            <a:avLst/>
          </a:prstGeom>
          <a:noFill/>
          <a:ln/>
        </p:spPr>
        <p:txBody>
          <a:bodyPr wrap="square" rtlCol="0" anchor="t"/>
          <a:lstStyle/>
          <a:p>
            <a:pPr algn="l" indent="0" marL="0">
              <a:lnSpc>
                <a:spcPct val="105000"/>
              </a:lnSpc>
              <a:buNone/>
            </a:pPr>
            <a:r>
              <a:rPr lang="en-US" sz="1250" dirty="0">
                <a:solidFill>
                  <a:srgbClr val="475569"/>
                </a:solidFill>
                <a:latin typeface="Calibri" pitchFamily="34" charset="0"/>
                <a:ea typeface="Calibri" pitchFamily="34" charset="-122"/>
                <a:cs typeface="Calibri" pitchFamily="34" charset="-120"/>
              </a:rPr>
              <a:t>Titles located by hand cause long delays.</a:t>
            </a:r>
            <a:endParaRPr lang="en-US" sz="1250" dirty="0"/>
          </a:p>
        </p:txBody>
      </p:sp>
      <p:sp>
        <p:nvSpPr>
          <p:cNvPr id="11" name="Shape 8"/>
          <p:cNvSpPr/>
          <p:nvPr/>
        </p:nvSpPr>
        <p:spPr>
          <a:xfrm>
            <a:off x="4507992" y="1691640"/>
            <a:ext cx="3611880" cy="1965960"/>
          </a:xfrm>
          <a:prstGeom prst="roundRect">
            <a:avLst>
              <a:gd name="adj" fmla="val 3256"/>
            </a:avLst>
          </a:prstGeom>
          <a:solidFill>
            <a:srgbClr val="F1F5F9"/>
          </a:solidFill>
          <a:ln/>
          <a:effectLst>
            <a:outerShdw sx="100000" sy="100000" kx="0" ky="0" algn="bl" rotWithShape="0" blurRad="114300" dist="38100" dir="5400000">
              <a:srgbClr val="1E293B">
                <a:alpha val="16000"/>
              </a:srgbClr>
            </a:outerShdw>
          </a:effectLst>
        </p:spPr>
      </p:sp>
      <p:sp>
        <p:nvSpPr>
          <p:cNvPr id="12" name="Shape 9"/>
          <p:cNvSpPr/>
          <p:nvPr/>
        </p:nvSpPr>
        <p:spPr>
          <a:xfrm>
            <a:off x="4782312" y="1965960"/>
            <a:ext cx="713232" cy="713232"/>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3" name="Image 1" descr="preencoded.png">    </p:cNvPr>
          <p:cNvPicPr>
            <a:picLocks noChangeAspect="1"/>
          </p:cNvPicPr>
          <p:nvPr/>
        </p:nvPicPr>
        <p:blipFill>
          <a:blip r:embed="rId2"/>
          <a:stretch>
            <a:fillRect/>
          </a:stretch>
        </p:blipFill>
        <p:spPr>
          <a:xfrm>
            <a:off x="4967752" y="2151400"/>
            <a:ext cx="342351" cy="342351"/>
          </a:xfrm>
          <a:prstGeom prst="rect">
            <a:avLst/>
          </a:prstGeom>
        </p:spPr>
      </p:pic>
      <p:sp>
        <p:nvSpPr>
          <p:cNvPr id="14" name="Text 10"/>
          <p:cNvSpPr/>
          <p:nvPr/>
        </p:nvSpPr>
        <p:spPr>
          <a:xfrm>
            <a:off x="5650992" y="2002536"/>
            <a:ext cx="2286000" cy="640080"/>
          </a:xfrm>
          <a:prstGeom prst="rect">
            <a:avLst/>
          </a:prstGeom>
          <a:noFill/>
          <a:ln/>
        </p:spPr>
        <p:txBody>
          <a:bodyPr wrap="square" rtlCol="0" anchor="t"/>
          <a:lstStyle/>
          <a:p>
            <a:pPr algn="l" indent="0" marL="0">
              <a:buNone/>
            </a:pPr>
            <a:r>
              <a:rPr lang="en-US" sz="1500" b="1" dirty="0">
                <a:solidFill>
                  <a:srgbClr val="12233B"/>
                </a:solidFill>
                <a:latin typeface="Cambria" pitchFamily="34" charset="0"/>
                <a:ea typeface="Cambria" pitchFamily="34" charset="-122"/>
                <a:cs typeface="Cambria" pitchFamily="34" charset="-120"/>
              </a:rPr>
              <a:t>Manual inventory</a:t>
            </a:r>
            <a:endParaRPr lang="en-US" sz="1500" dirty="0"/>
          </a:p>
        </p:txBody>
      </p:sp>
      <p:sp>
        <p:nvSpPr>
          <p:cNvPr id="15" name="Text 11"/>
          <p:cNvSpPr/>
          <p:nvPr/>
        </p:nvSpPr>
        <p:spPr>
          <a:xfrm>
            <a:off x="4782312" y="2788920"/>
            <a:ext cx="3063240" cy="731520"/>
          </a:xfrm>
          <a:prstGeom prst="rect">
            <a:avLst/>
          </a:prstGeom>
          <a:noFill/>
          <a:ln/>
        </p:spPr>
        <p:txBody>
          <a:bodyPr wrap="square" rtlCol="0" anchor="t"/>
          <a:lstStyle/>
          <a:p>
            <a:pPr algn="l" indent="0" marL="0">
              <a:lnSpc>
                <a:spcPct val="105000"/>
              </a:lnSpc>
              <a:buNone/>
            </a:pPr>
            <a:r>
              <a:rPr lang="en-US" sz="1250" dirty="0">
                <a:solidFill>
                  <a:srgbClr val="475569"/>
                </a:solidFill>
                <a:latin typeface="Calibri" pitchFamily="34" charset="0"/>
                <a:ea typeface="Calibri" pitchFamily="34" charset="-122"/>
                <a:cs typeface="Calibri" pitchFamily="34" charset="-120"/>
              </a:rPr>
              <a:t>Hand-kept counts drift and become inaccurate.</a:t>
            </a:r>
            <a:endParaRPr lang="en-US" sz="1250" dirty="0"/>
          </a:p>
        </p:txBody>
      </p:sp>
      <p:sp>
        <p:nvSpPr>
          <p:cNvPr id="16" name="Shape 12"/>
          <p:cNvSpPr/>
          <p:nvPr/>
        </p:nvSpPr>
        <p:spPr>
          <a:xfrm>
            <a:off x="8375904" y="1691640"/>
            <a:ext cx="3611880" cy="1965960"/>
          </a:xfrm>
          <a:prstGeom prst="roundRect">
            <a:avLst>
              <a:gd name="adj" fmla="val 3256"/>
            </a:avLst>
          </a:prstGeom>
          <a:solidFill>
            <a:srgbClr val="F1F5F9"/>
          </a:solidFill>
          <a:ln/>
          <a:effectLst>
            <a:outerShdw sx="100000" sy="100000" kx="0" ky="0" algn="bl" rotWithShape="0" blurRad="114300" dist="38100" dir="5400000">
              <a:srgbClr val="1E293B">
                <a:alpha val="16000"/>
              </a:srgbClr>
            </a:outerShdw>
          </a:effectLst>
        </p:spPr>
      </p:sp>
      <p:sp>
        <p:nvSpPr>
          <p:cNvPr id="17" name="Shape 13"/>
          <p:cNvSpPr/>
          <p:nvPr/>
        </p:nvSpPr>
        <p:spPr>
          <a:xfrm>
            <a:off x="8650224" y="1965960"/>
            <a:ext cx="713232" cy="713232"/>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8" name="Image 2" descr="preencoded.png">    </p:cNvPr>
          <p:cNvPicPr>
            <a:picLocks noChangeAspect="1"/>
          </p:cNvPicPr>
          <p:nvPr/>
        </p:nvPicPr>
        <p:blipFill>
          <a:blip r:embed="rId3"/>
          <a:stretch>
            <a:fillRect/>
          </a:stretch>
        </p:blipFill>
        <p:spPr>
          <a:xfrm>
            <a:off x="8835664" y="2151400"/>
            <a:ext cx="342351" cy="342351"/>
          </a:xfrm>
          <a:prstGeom prst="rect">
            <a:avLst/>
          </a:prstGeom>
        </p:spPr>
      </p:pic>
      <p:sp>
        <p:nvSpPr>
          <p:cNvPr id="19" name="Text 14"/>
          <p:cNvSpPr/>
          <p:nvPr/>
        </p:nvSpPr>
        <p:spPr>
          <a:xfrm>
            <a:off x="9518904" y="2002536"/>
            <a:ext cx="2286000" cy="640080"/>
          </a:xfrm>
          <a:prstGeom prst="rect">
            <a:avLst/>
          </a:prstGeom>
          <a:noFill/>
          <a:ln/>
        </p:spPr>
        <p:txBody>
          <a:bodyPr wrap="square" rtlCol="0" anchor="t"/>
          <a:lstStyle/>
          <a:p>
            <a:pPr algn="l" indent="0" marL="0">
              <a:buNone/>
            </a:pPr>
            <a:r>
              <a:rPr lang="en-US" sz="1500" b="1" dirty="0">
                <a:solidFill>
                  <a:srgbClr val="12233B"/>
                </a:solidFill>
                <a:latin typeface="Cambria" pitchFamily="34" charset="0"/>
                <a:ea typeface="Cambria" pitchFamily="34" charset="-122"/>
                <a:cs typeface="Cambria" pitchFamily="34" charset="-120"/>
              </a:rPr>
              <a:t>Weak overdue tracking</a:t>
            </a:r>
            <a:endParaRPr lang="en-US" sz="1500" dirty="0"/>
          </a:p>
        </p:txBody>
      </p:sp>
      <p:sp>
        <p:nvSpPr>
          <p:cNvPr id="20" name="Text 15"/>
          <p:cNvSpPr/>
          <p:nvPr/>
        </p:nvSpPr>
        <p:spPr>
          <a:xfrm>
            <a:off x="8650224" y="2788920"/>
            <a:ext cx="3063240" cy="731520"/>
          </a:xfrm>
          <a:prstGeom prst="rect">
            <a:avLst/>
          </a:prstGeom>
          <a:noFill/>
          <a:ln/>
        </p:spPr>
        <p:txBody>
          <a:bodyPr wrap="square" rtlCol="0" anchor="t"/>
          <a:lstStyle/>
          <a:p>
            <a:pPr algn="l" indent="0" marL="0">
              <a:lnSpc>
                <a:spcPct val="105000"/>
              </a:lnSpc>
              <a:buNone/>
            </a:pPr>
            <a:r>
              <a:rPr lang="en-US" sz="1250" dirty="0">
                <a:solidFill>
                  <a:srgbClr val="475569"/>
                </a:solidFill>
                <a:latin typeface="Calibri" pitchFamily="34" charset="0"/>
                <a:ea typeface="Calibri" pitchFamily="34" charset="-122"/>
                <a:cs typeface="Calibri" pitchFamily="34" charset="-120"/>
              </a:rPr>
              <a:t>Fines mis-calculated; reminders rarely sent.</a:t>
            </a:r>
            <a:endParaRPr lang="en-US" sz="1250" dirty="0"/>
          </a:p>
        </p:txBody>
      </p:sp>
      <p:sp>
        <p:nvSpPr>
          <p:cNvPr id="21" name="Shape 16"/>
          <p:cNvSpPr/>
          <p:nvPr/>
        </p:nvSpPr>
        <p:spPr>
          <a:xfrm>
            <a:off x="640080" y="3977640"/>
            <a:ext cx="3611880" cy="1965960"/>
          </a:xfrm>
          <a:prstGeom prst="roundRect">
            <a:avLst>
              <a:gd name="adj" fmla="val 3256"/>
            </a:avLst>
          </a:prstGeom>
          <a:solidFill>
            <a:srgbClr val="F1F5F9"/>
          </a:solidFill>
          <a:ln/>
          <a:effectLst>
            <a:outerShdw sx="100000" sy="100000" kx="0" ky="0" algn="bl" rotWithShape="0" blurRad="114300" dist="38100" dir="5400000">
              <a:srgbClr val="1E293B">
                <a:alpha val="16000"/>
              </a:srgbClr>
            </a:outerShdw>
          </a:effectLst>
        </p:spPr>
      </p:sp>
      <p:sp>
        <p:nvSpPr>
          <p:cNvPr id="22" name="Shape 17"/>
          <p:cNvSpPr/>
          <p:nvPr/>
        </p:nvSpPr>
        <p:spPr>
          <a:xfrm>
            <a:off x="914400" y="4251960"/>
            <a:ext cx="713232" cy="713232"/>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3" name="Image 3" descr="preencoded.png">    </p:cNvPr>
          <p:cNvPicPr>
            <a:picLocks noChangeAspect="1"/>
          </p:cNvPicPr>
          <p:nvPr/>
        </p:nvPicPr>
        <p:blipFill>
          <a:blip r:embed="rId4"/>
          <a:stretch>
            <a:fillRect/>
          </a:stretch>
        </p:blipFill>
        <p:spPr>
          <a:xfrm>
            <a:off x="1099840" y="4437400"/>
            <a:ext cx="342351" cy="342351"/>
          </a:xfrm>
          <a:prstGeom prst="rect">
            <a:avLst/>
          </a:prstGeom>
        </p:spPr>
      </p:pic>
      <p:sp>
        <p:nvSpPr>
          <p:cNvPr id="24" name="Text 18"/>
          <p:cNvSpPr/>
          <p:nvPr/>
        </p:nvSpPr>
        <p:spPr>
          <a:xfrm>
            <a:off x="1783080" y="4288536"/>
            <a:ext cx="2286000" cy="640080"/>
          </a:xfrm>
          <a:prstGeom prst="rect">
            <a:avLst/>
          </a:prstGeom>
          <a:noFill/>
          <a:ln/>
        </p:spPr>
        <p:txBody>
          <a:bodyPr wrap="square" rtlCol="0" anchor="t"/>
          <a:lstStyle/>
          <a:p>
            <a:pPr algn="l" indent="0" marL="0">
              <a:buNone/>
            </a:pPr>
            <a:r>
              <a:rPr lang="en-US" sz="1500" b="1" dirty="0">
                <a:solidFill>
                  <a:srgbClr val="12233B"/>
                </a:solidFill>
                <a:latin typeface="Cambria" pitchFamily="34" charset="0"/>
                <a:ea typeface="Cambria" pitchFamily="34" charset="-122"/>
                <a:cs typeface="Cambria" pitchFamily="34" charset="-120"/>
              </a:rPr>
              <a:t>Limited interaction</a:t>
            </a:r>
            <a:endParaRPr lang="en-US" sz="1500" dirty="0"/>
          </a:p>
        </p:txBody>
      </p:sp>
      <p:sp>
        <p:nvSpPr>
          <p:cNvPr id="25" name="Text 19"/>
          <p:cNvSpPr/>
          <p:nvPr/>
        </p:nvSpPr>
        <p:spPr>
          <a:xfrm>
            <a:off x="914400" y="5074920"/>
            <a:ext cx="3063240" cy="731520"/>
          </a:xfrm>
          <a:prstGeom prst="rect">
            <a:avLst/>
          </a:prstGeom>
          <a:noFill/>
          <a:ln/>
        </p:spPr>
        <p:txBody>
          <a:bodyPr wrap="square" rtlCol="0" anchor="t"/>
          <a:lstStyle/>
          <a:p>
            <a:pPr algn="l" indent="0" marL="0">
              <a:lnSpc>
                <a:spcPct val="105000"/>
              </a:lnSpc>
              <a:buNone/>
            </a:pPr>
            <a:r>
              <a:rPr lang="en-US" sz="1250" dirty="0">
                <a:solidFill>
                  <a:srgbClr val="475569"/>
                </a:solidFill>
                <a:latin typeface="Calibri" pitchFamily="34" charset="0"/>
                <a:ea typeface="Calibri" pitchFamily="34" charset="-122"/>
                <a:cs typeface="Calibri" pitchFamily="34" charset="-120"/>
              </a:rPr>
              <a:t>No reservations, history or online reading.</a:t>
            </a:r>
            <a:endParaRPr lang="en-US" sz="1250" dirty="0"/>
          </a:p>
        </p:txBody>
      </p:sp>
      <p:sp>
        <p:nvSpPr>
          <p:cNvPr id="26" name="Shape 20"/>
          <p:cNvSpPr/>
          <p:nvPr/>
        </p:nvSpPr>
        <p:spPr>
          <a:xfrm>
            <a:off x="4507992" y="3977640"/>
            <a:ext cx="3611880" cy="1965960"/>
          </a:xfrm>
          <a:prstGeom prst="roundRect">
            <a:avLst>
              <a:gd name="adj" fmla="val 3256"/>
            </a:avLst>
          </a:prstGeom>
          <a:solidFill>
            <a:srgbClr val="F1F5F9"/>
          </a:solidFill>
          <a:ln/>
          <a:effectLst>
            <a:outerShdw sx="100000" sy="100000" kx="0" ky="0" algn="bl" rotWithShape="0" blurRad="114300" dist="38100" dir="5400000">
              <a:srgbClr val="1E293B">
                <a:alpha val="16000"/>
              </a:srgbClr>
            </a:outerShdw>
          </a:effectLst>
        </p:spPr>
      </p:sp>
      <p:sp>
        <p:nvSpPr>
          <p:cNvPr id="27" name="Shape 21"/>
          <p:cNvSpPr/>
          <p:nvPr/>
        </p:nvSpPr>
        <p:spPr>
          <a:xfrm>
            <a:off x="4782312" y="4251960"/>
            <a:ext cx="713232" cy="713232"/>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8" name="Image 4" descr="preencoded.png">    </p:cNvPr>
          <p:cNvPicPr>
            <a:picLocks noChangeAspect="1"/>
          </p:cNvPicPr>
          <p:nvPr/>
        </p:nvPicPr>
        <p:blipFill>
          <a:blip r:embed="rId5"/>
          <a:stretch>
            <a:fillRect/>
          </a:stretch>
        </p:blipFill>
        <p:spPr>
          <a:xfrm>
            <a:off x="4967752" y="4437400"/>
            <a:ext cx="342351" cy="342351"/>
          </a:xfrm>
          <a:prstGeom prst="rect">
            <a:avLst/>
          </a:prstGeom>
        </p:spPr>
      </p:pic>
      <p:sp>
        <p:nvSpPr>
          <p:cNvPr id="29" name="Text 22"/>
          <p:cNvSpPr/>
          <p:nvPr/>
        </p:nvSpPr>
        <p:spPr>
          <a:xfrm>
            <a:off x="5650992" y="4288536"/>
            <a:ext cx="2286000" cy="640080"/>
          </a:xfrm>
          <a:prstGeom prst="rect">
            <a:avLst/>
          </a:prstGeom>
          <a:noFill/>
          <a:ln/>
        </p:spPr>
        <p:txBody>
          <a:bodyPr wrap="square" rtlCol="0" anchor="t"/>
          <a:lstStyle/>
          <a:p>
            <a:pPr algn="l" indent="0" marL="0">
              <a:buNone/>
            </a:pPr>
            <a:r>
              <a:rPr lang="en-US" sz="1500" b="1" dirty="0">
                <a:solidFill>
                  <a:srgbClr val="12233B"/>
                </a:solidFill>
                <a:latin typeface="Cambria" pitchFamily="34" charset="0"/>
                <a:ea typeface="Cambria" pitchFamily="34" charset="-122"/>
                <a:cs typeface="Cambria" pitchFamily="34" charset="-120"/>
              </a:rPr>
              <a:t>Poor reporting</a:t>
            </a:r>
            <a:endParaRPr lang="en-US" sz="1500" dirty="0"/>
          </a:p>
        </p:txBody>
      </p:sp>
      <p:sp>
        <p:nvSpPr>
          <p:cNvPr id="30" name="Text 23"/>
          <p:cNvSpPr/>
          <p:nvPr/>
        </p:nvSpPr>
        <p:spPr>
          <a:xfrm>
            <a:off x="4782312" y="5074920"/>
            <a:ext cx="3063240" cy="731520"/>
          </a:xfrm>
          <a:prstGeom prst="rect">
            <a:avLst/>
          </a:prstGeom>
          <a:noFill/>
          <a:ln/>
        </p:spPr>
        <p:txBody>
          <a:bodyPr wrap="square" rtlCol="0" anchor="t"/>
          <a:lstStyle/>
          <a:p>
            <a:pPr algn="l" indent="0" marL="0">
              <a:lnSpc>
                <a:spcPct val="105000"/>
              </a:lnSpc>
              <a:buNone/>
            </a:pPr>
            <a:r>
              <a:rPr lang="en-US" sz="1250" dirty="0">
                <a:solidFill>
                  <a:srgbClr val="475569"/>
                </a:solidFill>
                <a:latin typeface="Calibri" pitchFamily="34" charset="0"/>
                <a:ea typeface="Calibri" pitchFamily="34" charset="-122"/>
                <a:cs typeface="Calibri" pitchFamily="34" charset="-120"/>
              </a:rPr>
              <a:t>Little insight into how the collection is used.</a:t>
            </a:r>
            <a:endParaRPr lang="en-US" sz="1250" dirty="0"/>
          </a:p>
        </p:txBody>
      </p:sp>
      <p:sp>
        <p:nvSpPr>
          <p:cNvPr id="31" name="Shape 24"/>
          <p:cNvSpPr/>
          <p:nvPr/>
        </p:nvSpPr>
        <p:spPr>
          <a:xfrm>
            <a:off x="8375904" y="3977640"/>
            <a:ext cx="3611880" cy="1965960"/>
          </a:xfrm>
          <a:prstGeom prst="roundRect">
            <a:avLst>
              <a:gd name="adj" fmla="val 3256"/>
            </a:avLst>
          </a:prstGeom>
          <a:solidFill>
            <a:srgbClr val="F1F5F9"/>
          </a:solidFill>
          <a:ln/>
          <a:effectLst>
            <a:outerShdw sx="100000" sy="100000" kx="0" ky="0" algn="bl" rotWithShape="0" blurRad="114300" dist="38100" dir="5400000">
              <a:srgbClr val="1E293B">
                <a:alpha val="16000"/>
              </a:srgbClr>
            </a:outerShdw>
          </a:effectLst>
        </p:spPr>
      </p:sp>
      <p:sp>
        <p:nvSpPr>
          <p:cNvPr id="32" name="Shape 25"/>
          <p:cNvSpPr/>
          <p:nvPr/>
        </p:nvSpPr>
        <p:spPr>
          <a:xfrm>
            <a:off x="8650224" y="4251960"/>
            <a:ext cx="713232" cy="713232"/>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33" name="Image 5" descr="preencoded.png">    </p:cNvPr>
          <p:cNvPicPr>
            <a:picLocks noChangeAspect="1"/>
          </p:cNvPicPr>
          <p:nvPr/>
        </p:nvPicPr>
        <p:blipFill>
          <a:blip r:embed="rId6"/>
          <a:stretch>
            <a:fillRect/>
          </a:stretch>
        </p:blipFill>
        <p:spPr>
          <a:xfrm>
            <a:off x="8835664" y="4437400"/>
            <a:ext cx="342351" cy="342351"/>
          </a:xfrm>
          <a:prstGeom prst="rect">
            <a:avLst/>
          </a:prstGeom>
        </p:spPr>
      </p:pic>
      <p:sp>
        <p:nvSpPr>
          <p:cNvPr id="34" name="Text 26"/>
          <p:cNvSpPr/>
          <p:nvPr/>
        </p:nvSpPr>
        <p:spPr>
          <a:xfrm>
            <a:off x="9518904" y="4288536"/>
            <a:ext cx="2286000" cy="640080"/>
          </a:xfrm>
          <a:prstGeom prst="rect">
            <a:avLst/>
          </a:prstGeom>
          <a:noFill/>
          <a:ln/>
        </p:spPr>
        <p:txBody>
          <a:bodyPr wrap="square" rtlCol="0" anchor="t"/>
          <a:lstStyle/>
          <a:p>
            <a:pPr algn="l" indent="0" marL="0">
              <a:buNone/>
            </a:pPr>
            <a:r>
              <a:rPr lang="en-US" sz="1500" b="1" dirty="0">
                <a:solidFill>
                  <a:srgbClr val="12233B"/>
                </a:solidFill>
                <a:latin typeface="Cambria" pitchFamily="34" charset="0"/>
                <a:ea typeface="Cambria" pitchFamily="34" charset="-122"/>
                <a:cs typeface="Cambria" pitchFamily="34" charset="-120"/>
              </a:rPr>
              <a:t>No digital services</a:t>
            </a:r>
            <a:endParaRPr lang="en-US" sz="1500" dirty="0"/>
          </a:p>
        </p:txBody>
      </p:sp>
      <p:sp>
        <p:nvSpPr>
          <p:cNvPr id="35" name="Text 27"/>
          <p:cNvSpPr/>
          <p:nvPr/>
        </p:nvSpPr>
        <p:spPr>
          <a:xfrm>
            <a:off x="8650224" y="5074920"/>
            <a:ext cx="3063240" cy="731520"/>
          </a:xfrm>
          <a:prstGeom prst="rect">
            <a:avLst/>
          </a:prstGeom>
          <a:noFill/>
          <a:ln/>
        </p:spPr>
        <p:txBody>
          <a:bodyPr wrap="square" rtlCol="0" anchor="t"/>
          <a:lstStyle/>
          <a:p>
            <a:pPr algn="l" indent="0" marL="0">
              <a:lnSpc>
                <a:spcPct val="105000"/>
              </a:lnSpc>
              <a:buNone/>
            </a:pPr>
            <a:r>
              <a:rPr lang="en-US" sz="1250" dirty="0">
                <a:solidFill>
                  <a:srgbClr val="475569"/>
                </a:solidFill>
                <a:latin typeface="Calibri" pitchFamily="34" charset="0"/>
                <a:ea typeface="Calibri" pitchFamily="34" charset="-122"/>
                <a:cs typeface="Calibri" pitchFamily="34" charset="-120"/>
              </a:rPr>
              <a:t>Members must attend in person to borrow.</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AIM &amp; OBJECTIVES</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What the Project Sets Out to Achieve</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3</a:t>
            </a:r>
            <a:endParaRPr lang="en-US" sz="950" dirty="0"/>
          </a:p>
        </p:txBody>
      </p:sp>
      <p:sp>
        <p:nvSpPr>
          <p:cNvPr id="6" name="Shape 4"/>
          <p:cNvSpPr/>
          <p:nvPr/>
        </p:nvSpPr>
        <p:spPr>
          <a:xfrm>
            <a:off x="640080" y="1645920"/>
            <a:ext cx="10972800" cy="1051560"/>
          </a:xfrm>
          <a:prstGeom prst="roundRect">
            <a:avLst>
              <a:gd name="adj" fmla="val 6957"/>
            </a:avLst>
          </a:prstGeom>
          <a:solidFill>
            <a:srgbClr val="0F766E"/>
          </a:solidFill>
          <a:ln/>
          <a:effectLst>
            <a:outerShdw sx="100000" sy="100000" kx="0" ky="0" algn="bl" rotWithShape="0" blurRad="114300" dist="38100" dir="5400000">
              <a:srgbClr val="1E293B">
                <a:alpha val="16000"/>
              </a:srgbClr>
            </a:outerShdw>
          </a:effectLst>
        </p:spPr>
      </p:sp>
      <p:sp>
        <p:nvSpPr>
          <p:cNvPr id="7" name="Shape 5"/>
          <p:cNvSpPr/>
          <p:nvPr/>
        </p:nvSpPr>
        <p:spPr>
          <a:xfrm>
            <a:off x="896112" y="1828800"/>
            <a:ext cx="685800" cy="685800"/>
          </a:xfrm>
          <a:prstGeom prst="ellipse">
            <a:avLst/>
          </a:prstGeom>
          <a:solidFill>
            <a:srgbClr val="12233B"/>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1074420" y="2007108"/>
            <a:ext cx="329184" cy="329184"/>
          </a:xfrm>
          <a:prstGeom prst="rect">
            <a:avLst/>
          </a:prstGeom>
        </p:spPr>
      </p:pic>
      <p:sp>
        <p:nvSpPr>
          <p:cNvPr id="9" name="Text 6"/>
          <p:cNvSpPr/>
          <p:nvPr/>
        </p:nvSpPr>
        <p:spPr>
          <a:xfrm>
            <a:off x="1783080" y="1645920"/>
            <a:ext cx="9601200" cy="1051560"/>
          </a:xfrm>
          <a:prstGeom prst="rect">
            <a:avLst/>
          </a:prstGeom>
          <a:noFill/>
          <a:ln/>
        </p:spPr>
        <p:txBody>
          <a:bodyPr wrap="square" rtlCol="0" anchor="ctr"/>
          <a:lstStyle/>
          <a:p>
            <a:pPr algn="l" indent="0" marL="0">
              <a:lnSpc>
                <a:spcPct val="105000"/>
              </a:lnSpc>
              <a:buNone/>
            </a:pPr>
            <a:r>
              <a:rPr lang="en-US" sz="1300" b="1" dirty="0">
                <a:solidFill>
                  <a:srgbClr val="CCFBF1"/>
                </a:solidFill>
                <a:latin typeface="Calibri" pitchFamily="34" charset="0"/>
                <a:ea typeface="Calibri" pitchFamily="34" charset="-122"/>
                <a:cs typeface="Calibri" pitchFamily="34" charset="-120"/>
              </a:rPr>
              <a:t>AIM   </a:t>
            </a:r>
            <a:pPr algn="l" indent="0" marL="0">
              <a:lnSpc>
                <a:spcPct val="105000"/>
              </a:lnSpc>
              <a:buNone/>
            </a:pPr>
            <a:r>
              <a:rPr lang="en-US" sz="1500" dirty="0">
                <a:solidFill>
                  <a:srgbClr val="FFFFFF"/>
                </a:solidFill>
                <a:latin typeface="Calibri" pitchFamily="34" charset="0"/>
                <a:ea typeface="Calibri" pitchFamily="34" charset="-122"/>
                <a:cs typeface="Calibri" pitchFamily="34" charset="-120"/>
              </a:rPr>
              <a:t>Design and build a secure, responsive and genuinely usable library system that modernises borrowing for members and staff alike.</a:t>
            </a:r>
            <a:endParaRPr lang="en-US" sz="1300" dirty="0"/>
          </a:p>
        </p:txBody>
      </p:sp>
      <p:sp>
        <p:nvSpPr>
          <p:cNvPr id="10" name="Shape 7"/>
          <p:cNvSpPr/>
          <p:nvPr/>
        </p:nvSpPr>
        <p:spPr>
          <a:xfrm>
            <a:off x="640080" y="2971800"/>
            <a:ext cx="5394960" cy="1051560"/>
          </a:xfrm>
          <a:prstGeom prst="roundRect">
            <a:avLst>
              <a:gd name="adj" fmla="val 5217"/>
            </a:avLst>
          </a:prstGeom>
          <a:solidFill>
            <a:srgbClr val="F0FDFA"/>
          </a:solidFill>
          <a:ln/>
        </p:spPr>
      </p:sp>
      <p:sp>
        <p:nvSpPr>
          <p:cNvPr id="11" name="Shape 8"/>
          <p:cNvSpPr/>
          <p:nvPr/>
        </p:nvSpPr>
        <p:spPr>
          <a:xfrm>
            <a:off x="868680" y="3273552"/>
            <a:ext cx="457200" cy="457200"/>
          </a:xfrm>
          <a:prstGeom prst="ellipse">
            <a:avLst/>
          </a:prstGeom>
          <a:solidFill>
            <a:srgbClr val="0F766E"/>
          </a:solidFill>
          <a:ln/>
        </p:spPr>
      </p:sp>
      <p:sp>
        <p:nvSpPr>
          <p:cNvPr id="12" name="Text 9"/>
          <p:cNvSpPr/>
          <p:nvPr/>
        </p:nvSpPr>
        <p:spPr>
          <a:xfrm>
            <a:off x="868680" y="327355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3" name="Text 10"/>
          <p:cNvSpPr/>
          <p:nvPr/>
        </p:nvSpPr>
        <p:spPr>
          <a:xfrm>
            <a:off x="1508760" y="3081528"/>
            <a:ext cx="4343400" cy="832104"/>
          </a:xfrm>
          <a:prstGeom prst="rect">
            <a:avLst/>
          </a:prstGeom>
          <a:noFill/>
          <a:ln/>
        </p:spPr>
        <p:txBody>
          <a:bodyPr wrap="square" rtlCol="0" anchor="ctr"/>
          <a:lstStyle/>
          <a:p>
            <a:pPr algn="l" indent="0" marL="0">
              <a:lnSpc>
                <a:spcPct val="103000"/>
              </a:lnSpc>
              <a:buNone/>
            </a:pPr>
            <a:r>
              <a:rPr lang="en-US" sz="1280" dirty="0">
                <a:solidFill>
                  <a:srgbClr val="0F172A"/>
                </a:solidFill>
                <a:latin typeface="Calibri" pitchFamily="34" charset="0"/>
                <a:ea typeface="Calibri" pitchFamily="34" charset="-122"/>
                <a:cs typeface="Calibri" pitchFamily="34" charset="-120"/>
              </a:rPr>
              <a:t>Efficient searching, borrowing, reserving and reading of materials.</a:t>
            </a:r>
            <a:endParaRPr lang="en-US" sz="1280" dirty="0"/>
          </a:p>
        </p:txBody>
      </p:sp>
      <p:sp>
        <p:nvSpPr>
          <p:cNvPr id="14" name="Shape 11"/>
          <p:cNvSpPr/>
          <p:nvPr/>
        </p:nvSpPr>
        <p:spPr>
          <a:xfrm>
            <a:off x="6217920" y="2971800"/>
            <a:ext cx="5394960" cy="1051560"/>
          </a:xfrm>
          <a:prstGeom prst="roundRect">
            <a:avLst>
              <a:gd name="adj" fmla="val 5217"/>
            </a:avLst>
          </a:prstGeom>
          <a:solidFill>
            <a:srgbClr val="F0FDFA"/>
          </a:solidFill>
          <a:ln/>
        </p:spPr>
      </p:sp>
      <p:sp>
        <p:nvSpPr>
          <p:cNvPr id="15" name="Shape 12"/>
          <p:cNvSpPr/>
          <p:nvPr/>
        </p:nvSpPr>
        <p:spPr>
          <a:xfrm>
            <a:off x="6446520" y="3273552"/>
            <a:ext cx="457200" cy="457200"/>
          </a:xfrm>
          <a:prstGeom prst="ellipse">
            <a:avLst/>
          </a:prstGeom>
          <a:solidFill>
            <a:srgbClr val="0F766E"/>
          </a:solidFill>
          <a:ln/>
        </p:spPr>
      </p:sp>
      <p:sp>
        <p:nvSpPr>
          <p:cNvPr id="16" name="Text 13"/>
          <p:cNvSpPr/>
          <p:nvPr/>
        </p:nvSpPr>
        <p:spPr>
          <a:xfrm>
            <a:off x="6446520" y="327355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4"/>
          <p:cNvSpPr/>
          <p:nvPr/>
        </p:nvSpPr>
        <p:spPr>
          <a:xfrm>
            <a:off x="7086600" y="3081528"/>
            <a:ext cx="4343400" cy="832104"/>
          </a:xfrm>
          <a:prstGeom prst="rect">
            <a:avLst/>
          </a:prstGeom>
          <a:noFill/>
          <a:ln/>
        </p:spPr>
        <p:txBody>
          <a:bodyPr wrap="square" rtlCol="0" anchor="ctr"/>
          <a:lstStyle/>
          <a:p>
            <a:pPr algn="l" indent="0" marL="0">
              <a:lnSpc>
                <a:spcPct val="103000"/>
              </a:lnSpc>
              <a:buNone/>
            </a:pPr>
            <a:r>
              <a:rPr lang="en-US" sz="1280" dirty="0">
                <a:solidFill>
                  <a:srgbClr val="0F172A"/>
                </a:solidFill>
                <a:latin typeface="Calibri" pitchFamily="34" charset="0"/>
                <a:ea typeface="Calibri" pitchFamily="34" charset="-122"/>
                <a:cs typeface="Calibri" pitchFamily="34" charset="-120"/>
              </a:rPr>
              <a:t>Automated inventory with availability accurate in real time.</a:t>
            </a:r>
            <a:endParaRPr lang="en-US" sz="1280" dirty="0"/>
          </a:p>
        </p:txBody>
      </p:sp>
      <p:sp>
        <p:nvSpPr>
          <p:cNvPr id="18" name="Shape 15"/>
          <p:cNvSpPr/>
          <p:nvPr/>
        </p:nvSpPr>
        <p:spPr>
          <a:xfrm>
            <a:off x="640080" y="4224528"/>
            <a:ext cx="5394960" cy="1051560"/>
          </a:xfrm>
          <a:prstGeom prst="roundRect">
            <a:avLst>
              <a:gd name="adj" fmla="val 5217"/>
            </a:avLst>
          </a:prstGeom>
          <a:solidFill>
            <a:srgbClr val="F0FDFA"/>
          </a:solidFill>
          <a:ln/>
        </p:spPr>
      </p:sp>
      <p:sp>
        <p:nvSpPr>
          <p:cNvPr id="19" name="Shape 16"/>
          <p:cNvSpPr/>
          <p:nvPr/>
        </p:nvSpPr>
        <p:spPr>
          <a:xfrm>
            <a:off x="868680" y="4526280"/>
            <a:ext cx="457200" cy="457200"/>
          </a:xfrm>
          <a:prstGeom prst="ellipse">
            <a:avLst/>
          </a:prstGeom>
          <a:solidFill>
            <a:srgbClr val="0F766E"/>
          </a:solidFill>
          <a:ln/>
        </p:spPr>
      </p:sp>
      <p:sp>
        <p:nvSpPr>
          <p:cNvPr id="20" name="Text 17"/>
          <p:cNvSpPr/>
          <p:nvPr/>
        </p:nvSpPr>
        <p:spPr>
          <a:xfrm>
            <a:off x="868680" y="45262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8"/>
          <p:cNvSpPr/>
          <p:nvPr/>
        </p:nvSpPr>
        <p:spPr>
          <a:xfrm>
            <a:off x="1508760" y="4334256"/>
            <a:ext cx="4343400" cy="832104"/>
          </a:xfrm>
          <a:prstGeom prst="rect">
            <a:avLst/>
          </a:prstGeom>
          <a:noFill/>
          <a:ln/>
        </p:spPr>
        <p:txBody>
          <a:bodyPr wrap="square" rtlCol="0" anchor="ctr"/>
          <a:lstStyle/>
          <a:p>
            <a:pPr algn="l" indent="0" marL="0">
              <a:lnSpc>
                <a:spcPct val="103000"/>
              </a:lnSpc>
              <a:buNone/>
            </a:pPr>
            <a:r>
              <a:rPr lang="en-US" sz="1280" dirty="0">
                <a:solidFill>
                  <a:srgbClr val="0F172A"/>
                </a:solidFill>
                <a:latin typeface="Calibri" pitchFamily="34" charset="0"/>
                <a:ea typeface="Calibri" pitchFamily="34" charset="-122"/>
                <a:cs typeface="Calibri" pitchFamily="34" charset="-120"/>
              </a:rPr>
              <a:t>Automatic fine calculation with timely deadline notifications.</a:t>
            </a:r>
            <a:endParaRPr lang="en-US" sz="1280" dirty="0"/>
          </a:p>
        </p:txBody>
      </p:sp>
      <p:sp>
        <p:nvSpPr>
          <p:cNvPr id="22" name="Shape 19"/>
          <p:cNvSpPr/>
          <p:nvPr/>
        </p:nvSpPr>
        <p:spPr>
          <a:xfrm>
            <a:off x="6217920" y="4224528"/>
            <a:ext cx="5394960" cy="1051560"/>
          </a:xfrm>
          <a:prstGeom prst="roundRect">
            <a:avLst>
              <a:gd name="adj" fmla="val 5217"/>
            </a:avLst>
          </a:prstGeom>
          <a:solidFill>
            <a:srgbClr val="F0FDFA"/>
          </a:solidFill>
          <a:ln/>
        </p:spPr>
      </p:sp>
      <p:sp>
        <p:nvSpPr>
          <p:cNvPr id="23" name="Shape 20"/>
          <p:cNvSpPr/>
          <p:nvPr/>
        </p:nvSpPr>
        <p:spPr>
          <a:xfrm>
            <a:off x="6446520" y="4526280"/>
            <a:ext cx="457200" cy="457200"/>
          </a:xfrm>
          <a:prstGeom prst="ellipse">
            <a:avLst/>
          </a:prstGeom>
          <a:solidFill>
            <a:srgbClr val="0F766E"/>
          </a:solidFill>
          <a:ln/>
        </p:spPr>
      </p:sp>
      <p:sp>
        <p:nvSpPr>
          <p:cNvPr id="24" name="Text 21"/>
          <p:cNvSpPr/>
          <p:nvPr/>
        </p:nvSpPr>
        <p:spPr>
          <a:xfrm>
            <a:off x="6446520" y="45262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2"/>
          <p:cNvSpPr/>
          <p:nvPr/>
        </p:nvSpPr>
        <p:spPr>
          <a:xfrm>
            <a:off x="7086600" y="4334256"/>
            <a:ext cx="4343400" cy="832104"/>
          </a:xfrm>
          <a:prstGeom prst="rect">
            <a:avLst/>
          </a:prstGeom>
          <a:noFill/>
          <a:ln/>
        </p:spPr>
        <p:txBody>
          <a:bodyPr wrap="square" rtlCol="0" anchor="ctr"/>
          <a:lstStyle/>
          <a:p>
            <a:pPr algn="l" indent="0" marL="0">
              <a:lnSpc>
                <a:spcPct val="103000"/>
              </a:lnSpc>
              <a:buNone/>
            </a:pPr>
            <a:r>
              <a:rPr lang="en-US" sz="1280" dirty="0">
                <a:solidFill>
                  <a:srgbClr val="0F172A"/>
                </a:solidFill>
                <a:latin typeface="Calibri" pitchFamily="34" charset="0"/>
                <a:ea typeface="Calibri" pitchFamily="34" charset="-122"/>
                <a:cs typeface="Calibri" pitchFamily="34" charset="-120"/>
              </a:rPr>
              <a:t>Clear dashboards and reporting for librarians and administrators.</a:t>
            </a:r>
            <a:endParaRPr lang="en-US" sz="1280" dirty="0"/>
          </a:p>
        </p:txBody>
      </p:sp>
      <p:sp>
        <p:nvSpPr>
          <p:cNvPr id="26" name="Shape 23"/>
          <p:cNvSpPr/>
          <p:nvPr/>
        </p:nvSpPr>
        <p:spPr>
          <a:xfrm>
            <a:off x="640080" y="5477256"/>
            <a:ext cx="5394960" cy="1051560"/>
          </a:xfrm>
          <a:prstGeom prst="roundRect">
            <a:avLst>
              <a:gd name="adj" fmla="val 5217"/>
            </a:avLst>
          </a:prstGeom>
          <a:solidFill>
            <a:srgbClr val="F0FDFA"/>
          </a:solidFill>
          <a:ln/>
        </p:spPr>
      </p:sp>
      <p:sp>
        <p:nvSpPr>
          <p:cNvPr id="27" name="Shape 24"/>
          <p:cNvSpPr/>
          <p:nvPr/>
        </p:nvSpPr>
        <p:spPr>
          <a:xfrm>
            <a:off x="868680" y="5779008"/>
            <a:ext cx="457200" cy="457200"/>
          </a:xfrm>
          <a:prstGeom prst="ellipse">
            <a:avLst/>
          </a:prstGeom>
          <a:solidFill>
            <a:srgbClr val="0F766E"/>
          </a:solidFill>
          <a:ln/>
        </p:spPr>
      </p:sp>
      <p:sp>
        <p:nvSpPr>
          <p:cNvPr id="28" name="Text 25"/>
          <p:cNvSpPr/>
          <p:nvPr/>
        </p:nvSpPr>
        <p:spPr>
          <a:xfrm>
            <a:off x="868680" y="5779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6"/>
          <p:cNvSpPr/>
          <p:nvPr/>
        </p:nvSpPr>
        <p:spPr>
          <a:xfrm>
            <a:off x="1508760" y="5586984"/>
            <a:ext cx="4343400" cy="832104"/>
          </a:xfrm>
          <a:prstGeom prst="rect">
            <a:avLst/>
          </a:prstGeom>
          <a:noFill/>
          <a:ln/>
        </p:spPr>
        <p:txBody>
          <a:bodyPr wrap="square" rtlCol="0" anchor="ctr"/>
          <a:lstStyle/>
          <a:p>
            <a:pPr algn="l" indent="0" marL="0">
              <a:lnSpc>
                <a:spcPct val="103000"/>
              </a:lnSpc>
              <a:buNone/>
            </a:pPr>
            <a:r>
              <a:rPr lang="en-US" sz="1280" dirty="0">
                <a:solidFill>
                  <a:srgbClr val="0F172A"/>
                </a:solidFill>
                <a:latin typeface="Calibri" pitchFamily="34" charset="0"/>
                <a:ea typeface="Calibri" pitchFamily="34" charset="-122"/>
                <a:cs typeface="Calibri" pitchFamily="34" charset="-120"/>
              </a:rPr>
              <a:t>Modern extras: QR codes, recommendations and a digital library.</a:t>
            </a:r>
            <a:endParaRPr lang="en-US" sz="1280" dirty="0"/>
          </a:p>
        </p:txBody>
      </p:sp>
      <p:sp>
        <p:nvSpPr>
          <p:cNvPr id="30" name="Shape 27"/>
          <p:cNvSpPr/>
          <p:nvPr/>
        </p:nvSpPr>
        <p:spPr>
          <a:xfrm>
            <a:off x="6217920" y="5477256"/>
            <a:ext cx="5394960" cy="1051560"/>
          </a:xfrm>
          <a:prstGeom prst="roundRect">
            <a:avLst>
              <a:gd name="adj" fmla="val 5217"/>
            </a:avLst>
          </a:prstGeom>
          <a:solidFill>
            <a:srgbClr val="F0FDFA"/>
          </a:solidFill>
          <a:ln/>
        </p:spPr>
      </p:sp>
      <p:sp>
        <p:nvSpPr>
          <p:cNvPr id="31" name="Shape 28"/>
          <p:cNvSpPr/>
          <p:nvPr/>
        </p:nvSpPr>
        <p:spPr>
          <a:xfrm>
            <a:off x="6446520" y="5779008"/>
            <a:ext cx="457200" cy="457200"/>
          </a:xfrm>
          <a:prstGeom prst="ellipse">
            <a:avLst/>
          </a:prstGeom>
          <a:solidFill>
            <a:srgbClr val="0F766E"/>
          </a:solidFill>
          <a:ln/>
        </p:spPr>
      </p:sp>
      <p:sp>
        <p:nvSpPr>
          <p:cNvPr id="32" name="Text 29"/>
          <p:cNvSpPr/>
          <p:nvPr/>
        </p:nvSpPr>
        <p:spPr>
          <a:xfrm>
            <a:off x="6446520" y="577900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0"/>
          <p:cNvSpPr/>
          <p:nvPr/>
        </p:nvSpPr>
        <p:spPr>
          <a:xfrm>
            <a:off x="7086600" y="5586984"/>
            <a:ext cx="4343400" cy="832104"/>
          </a:xfrm>
          <a:prstGeom prst="rect">
            <a:avLst/>
          </a:prstGeom>
          <a:noFill/>
          <a:ln/>
        </p:spPr>
        <p:txBody>
          <a:bodyPr wrap="square" rtlCol="0" anchor="ctr"/>
          <a:lstStyle/>
          <a:p>
            <a:pPr algn="l" indent="0" marL="0">
              <a:lnSpc>
                <a:spcPct val="103000"/>
              </a:lnSpc>
              <a:buNone/>
            </a:pPr>
            <a:r>
              <a:rPr lang="en-US" sz="1280" dirty="0">
                <a:solidFill>
                  <a:srgbClr val="0F172A"/>
                </a:solidFill>
                <a:latin typeface="Calibri" pitchFamily="34" charset="0"/>
                <a:ea typeface="Calibri" pitchFamily="34" charset="-122"/>
                <a:cs typeface="Calibri" pitchFamily="34" charset="-120"/>
              </a:rPr>
              <a:t>Secure, accessible and fully responsive on every device.</a:t>
            </a:r>
            <a:endParaRPr lang="en-US" sz="12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SCOPE</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What the System Does — and Doesn't</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4</a:t>
            </a:r>
            <a:endParaRPr lang="en-US" sz="950" dirty="0"/>
          </a:p>
        </p:txBody>
      </p:sp>
      <p:sp>
        <p:nvSpPr>
          <p:cNvPr id="6" name="Shape 4"/>
          <p:cNvSpPr/>
          <p:nvPr/>
        </p:nvSpPr>
        <p:spPr>
          <a:xfrm>
            <a:off x="640080" y="1645920"/>
            <a:ext cx="5486400" cy="4480560"/>
          </a:xfrm>
          <a:prstGeom prst="roundRect">
            <a:avLst>
              <a:gd name="adj" fmla="val 1633"/>
            </a:avLst>
          </a:prstGeom>
          <a:solidFill>
            <a:srgbClr val="F0FDFA"/>
          </a:solidFill>
          <a:ln/>
          <a:effectLst>
            <a:outerShdw sx="100000" sy="100000" kx="0" ky="0" algn="bl" rotWithShape="0" blurRad="114300" dist="38100" dir="5400000">
              <a:srgbClr val="1E293B">
                <a:alpha val="16000"/>
              </a:srgbClr>
            </a:outerShdw>
          </a:effectLst>
        </p:spPr>
      </p:sp>
      <p:sp>
        <p:nvSpPr>
          <p:cNvPr id="7" name="Shape 5"/>
          <p:cNvSpPr/>
          <p:nvPr/>
        </p:nvSpPr>
        <p:spPr>
          <a:xfrm>
            <a:off x="914400" y="1874520"/>
            <a:ext cx="640080" cy="640080"/>
          </a:xfrm>
          <a:prstGeom prst="ellipse">
            <a:avLst/>
          </a:prstGeom>
          <a:solidFill>
            <a:srgbClr val="0F766E"/>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1080821" y="2040941"/>
            <a:ext cx="307238" cy="307238"/>
          </a:xfrm>
          <a:prstGeom prst="rect">
            <a:avLst/>
          </a:prstGeom>
        </p:spPr>
      </p:pic>
      <p:sp>
        <p:nvSpPr>
          <p:cNvPr id="9" name="Text 6"/>
          <p:cNvSpPr/>
          <p:nvPr/>
        </p:nvSpPr>
        <p:spPr>
          <a:xfrm>
            <a:off x="1691640" y="1920240"/>
            <a:ext cx="4297680" cy="502920"/>
          </a:xfrm>
          <a:prstGeom prst="rect">
            <a:avLst/>
          </a:prstGeom>
          <a:noFill/>
          <a:ln/>
        </p:spPr>
        <p:txBody>
          <a:bodyPr wrap="square"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Within scope</a:t>
            </a:r>
            <a:endParaRPr lang="en-US" sz="1900" dirty="0"/>
          </a:p>
        </p:txBody>
      </p:sp>
      <p:sp>
        <p:nvSpPr>
          <p:cNvPr id="10" name="Text 7"/>
          <p:cNvSpPr/>
          <p:nvPr/>
        </p:nvSpPr>
        <p:spPr>
          <a:xfrm>
            <a:off x="1051560" y="2606040"/>
            <a:ext cx="4754880" cy="3291840"/>
          </a:xfrm>
          <a:prstGeom prst="rect">
            <a:avLst/>
          </a:prstGeom>
          <a:noFill/>
          <a:ln/>
        </p:spPr>
        <p:txBody>
          <a:bodyPr wrap="square" rtlCol="0" anchor="ctr"/>
          <a:lstStyle/>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Registration, authentication &amp; role-based access</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Catalogue management and classification</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Full issue-and-return workflow, live availability</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Reservation queue for on-loan titles</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Automatic fines and notifications</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Administrative reporting &amp; dashboards</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Digital library — read and download eBooks</a:t>
            </a:r>
            <a:endParaRPr lang="en-US" sz="1320" dirty="0"/>
          </a:p>
          <a:p>
            <a:pPr algn="l" marL="228600" indent="-228600">
              <a:spcAft>
                <a:spcPts val="700"/>
              </a:spcAft>
              <a:buSzPct val="100000"/>
              <a:buChar char="•"/>
            </a:pPr>
            <a:r>
              <a:rPr lang="en-US" sz="1320" dirty="0">
                <a:solidFill>
                  <a:srgbClr val="0F172A"/>
                </a:solidFill>
                <a:latin typeface="Calibri" pitchFamily="34" charset="0"/>
                <a:ea typeface="Calibri" pitchFamily="34" charset="-122"/>
                <a:cs typeface="Calibri" pitchFamily="34" charset="-120"/>
              </a:rPr>
              <a:t>Public browsing pages for prospective members</a:t>
            </a:r>
            <a:endParaRPr lang="en-US" sz="1320" dirty="0"/>
          </a:p>
        </p:txBody>
      </p:sp>
      <p:sp>
        <p:nvSpPr>
          <p:cNvPr id="11" name="Shape 8"/>
          <p:cNvSpPr/>
          <p:nvPr/>
        </p:nvSpPr>
        <p:spPr>
          <a:xfrm>
            <a:off x="6400800" y="1645920"/>
            <a:ext cx="5120640" cy="4480560"/>
          </a:xfrm>
          <a:prstGeom prst="roundRect">
            <a:avLst>
              <a:gd name="adj" fmla="val 1633"/>
            </a:avLst>
          </a:prstGeom>
          <a:solidFill>
            <a:srgbClr val="FEF3C7"/>
          </a:solidFill>
          <a:ln/>
          <a:effectLst>
            <a:outerShdw sx="100000" sy="100000" kx="0" ky="0" algn="bl" rotWithShape="0" blurRad="114300" dist="38100" dir="5400000">
              <a:srgbClr val="1E293B">
                <a:alpha val="16000"/>
              </a:srgbClr>
            </a:outerShdw>
          </a:effectLst>
        </p:spPr>
      </p:sp>
      <p:sp>
        <p:nvSpPr>
          <p:cNvPr id="12" name="Shape 9"/>
          <p:cNvSpPr/>
          <p:nvPr/>
        </p:nvSpPr>
        <p:spPr>
          <a:xfrm>
            <a:off x="6675120" y="1874520"/>
            <a:ext cx="640080" cy="64008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3" name="Image 1" descr="preencoded.png">    </p:cNvPr>
          <p:cNvPicPr>
            <a:picLocks noChangeAspect="1"/>
          </p:cNvPicPr>
          <p:nvPr/>
        </p:nvPicPr>
        <p:blipFill>
          <a:blip r:embed="rId2"/>
          <a:stretch>
            <a:fillRect/>
          </a:stretch>
        </p:blipFill>
        <p:spPr>
          <a:xfrm>
            <a:off x="6841541" y="2040941"/>
            <a:ext cx="307238" cy="307238"/>
          </a:xfrm>
          <a:prstGeom prst="rect">
            <a:avLst/>
          </a:prstGeom>
        </p:spPr>
      </p:pic>
      <p:sp>
        <p:nvSpPr>
          <p:cNvPr id="14" name="Text 10"/>
          <p:cNvSpPr/>
          <p:nvPr/>
        </p:nvSpPr>
        <p:spPr>
          <a:xfrm>
            <a:off x="7452360" y="1920240"/>
            <a:ext cx="3931920" cy="502920"/>
          </a:xfrm>
          <a:prstGeom prst="rect">
            <a:avLst/>
          </a:prstGeom>
          <a:noFill/>
          <a:ln/>
        </p:spPr>
        <p:txBody>
          <a:bodyPr wrap="square" rtlCol="0" anchor="ctr"/>
          <a:lstStyle/>
          <a:p>
            <a:pPr indent="0" marL="0">
              <a:buNone/>
            </a:pPr>
            <a:r>
              <a:rPr lang="en-US" sz="1900" b="1" dirty="0">
                <a:solidFill>
                  <a:srgbClr val="D97706"/>
                </a:solidFill>
                <a:latin typeface="Cambria" pitchFamily="34" charset="0"/>
                <a:ea typeface="Cambria" pitchFamily="34" charset="-122"/>
                <a:cs typeface="Cambria" pitchFamily="34" charset="-120"/>
              </a:rPr>
              <a:t>Outside scope (future work)</a:t>
            </a:r>
            <a:endParaRPr lang="en-US" sz="1900" dirty="0"/>
          </a:p>
        </p:txBody>
      </p:sp>
      <p:sp>
        <p:nvSpPr>
          <p:cNvPr id="15" name="Text 11"/>
          <p:cNvSpPr/>
          <p:nvPr/>
        </p:nvSpPr>
        <p:spPr>
          <a:xfrm>
            <a:off x="6812280" y="2651760"/>
            <a:ext cx="4389120" cy="1828800"/>
          </a:xfrm>
          <a:prstGeom prst="rect">
            <a:avLst/>
          </a:prstGeom>
          <a:noFill/>
          <a:ln/>
        </p:spPr>
        <p:txBody>
          <a:bodyPr wrap="square" rtlCol="0" anchor="ctr"/>
          <a:lstStyle/>
          <a:p>
            <a:pPr algn="l" marL="228600" indent="-228600">
              <a:spcAft>
                <a:spcPts val="1000"/>
              </a:spcAft>
              <a:buSzPct val="100000"/>
              <a:buChar char="•"/>
            </a:pPr>
            <a:r>
              <a:rPr lang="en-US" sz="1320" dirty="0">
                <a:solidFill>
                  <a:srgbClr val="0F172A"/>
                </a:solidFill>
                <a:latin typeface="Calibri" pitchFamily="34" charset="0"/>
                <a:ea typeface="Calibri" pitchFamily="34" charset="-122"/>
                <a:cs typeface="Calibri" pitchFamily="34" charset="-120"/>
              </a:rPr>
              <a:t>Online payment gateways for fine settlement</a:t>
            </a:r>
            <a:endParaRPr lang="en-US" sz="1320" dirty="0"/>
          </a:p>
          <a:p>
            <a:pPr algn="l" marL="228600" indent="-228600">
              <a:spcAft>
                <a:spcPts val="1000"/>
              </a:spcAft>
              <a:buSzPct val="100000"/>
              <a:buChar char="•"/>
            </a:pPr>
            <a:r>
              <a:rPr lang="en-US" sz="1320" dirty="0">
                <a:solidFill>
                  <a:srgbClr val="0F172A"/>
                </a:solidFill>
                <a:latin typeface="Calibri" pitchFamily="34" charset="0"/>
                <a:ea typeface="Calibri" pitchFamily="34" charset="-122"/>
                <a:cs typeface="Calibri" pitchFamily="34" charset="-120"/>
              </a:rPr>
              <a:t>Links to national / inter-library networks</a:t>
            </a:r>
            <a:endParaRPr lang="en-US" sz="1320" dirty="0"/>
          </a:p>
          <a:p>
            <a:pPr algn="l" marL="228600" indent="-228600">
              <a:spcAft>
                <a:spcPts val="1000"/>
              </a:spcAft>
              <a:buSzPct val="100000"/>
              <a:buChar char="•"/>
            </a:pPr>
            <a:r>
              <a:rPr lang="en-US" sz="1320" dirty="0">
                <a:solidFill>
                  <a:srgbClr val="0F172A"/>
                </a:solidFill>
                <a:latin typeface="Calibri" pitchFamily="34" charset="0"/>
                <a:ea typeface="Calibri" pitchFamily="34" charset="-122"/>
                <a:cs typeface="Calibri" pitchFamily="34" charset="-120"/>
              </a:rPr>
              <a:t>Dedicated native mobile applications</a:t>
            </a:r>
            <a:endParaRPr lang="en-US" sz="1320" dirty="0"/>
          </a:p>
        </p:txBody>
      </p:sp>
      <p:sp>
        <p:nvSpPr>
          <p:cNvPr id="16" name="Text 12"/>
          <p:cNvSpPr/>
          <p:nvPr/>
        </p:nvSpPr>
        <p:spPr>
          <a:xfrm>
            <a:off x="6812280" y="4754880"/>
            <a:ext cx="4297680" cy="1097280"/>
          </a:xfrm>
          <a:prstGeom prst="rect">
            <a:avLst/>
          </a:prstGeom>
          <a:noFill/>
          <a:ln/>
        </p:spPr>
        <p:txBody>
          <a:bodyPr wrap="square" rtlCol="0" anchor="ctr"/>
          <a:lstStyle/>
          <a:p>
            <a:pPr algn="l" indent="0" marL="0">
              <a:lnSpc>
                <a:spcPct val="110000"/>
              </a:lnSpc>
              <a:buNone/>
            </a:pPr>
            <a:r>
              <a:rPr lang="en-US" sz="1200" i="1" dirty="0">
                <a:solidFill>
                  <a:srgbClr val="475569"/>
                </a:solidFill>
                <a:latin typeface="Calibri" pitchFamily="34" charset="0"/>
                <a:ea typeface="Calibri" pitchFamily="34" charset="-122"/>
                <a:cs typeface="Calibri" pitchFamily="34" charset="-120"/>
              </a:rPr>
              <a:t>The responsive web interface already serves mobile users well; these are natural next steps, not gaps.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USERS &amp; ROLES</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Three Roles, Cumulative Access</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640080" y="1737360"/>
            <a:ext cx="3611880" cy="4206240"/>
          </a:xfrm>
          <a:prstGeom prst="roundRect">
            <a:avLst>
              <a:gd name="adj" fmla="val 2025"/>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7" name="Shape 5"/>
          <p:cNvSpPr/>
          <p:nvPr/>
        </p:nvSpPr>
        <p:spPr>
          <a:xfrm>
            <a:off x="640080" y="1737360"/>
            <a:ext cx="3611880" cy="1234440"/>
          </a:xfrm>
          <a:prstGeom prst="roundRect">
            <a:avLst>
              <a:gd name="adj" fmla="val 5926"/>
            </a:avLst>
          </a:prstGeom>
          <a:solidFill>
            <a:srgbClr val="0F766E"/>
          </a:solidFill>
          <a:ln/>
        </p:spPr>
      </p:sp>
      <p:sp>
        <p:nvSpPr>
          <p:cNvPr id="8" name="Shape 6"/>
          <p:cNvSpPr/>
          <p:nvPr/>
        </p:nvSpPr>
        <p:spPr>
          <a:xfrm>
            <a:off x="640080" y="2423160"/>
            <a:ext cx="3611880" cy="548640"/>
          </a:xfrm>
          <a:prstGeom prst="rect">
            <a:avLst/>
          </a:prstGeom>
          <a:solidFill>
            <a:srgbClr val="0F766E"/>
          </a:solidFill>
          <a:ln/>
        </p:spPr>
      </p:sp>
      <p:sp>
        <p:nvSpPr>
          <p:cNvPr id="9" name="Shape 7"/>
          <p:cNvSpPr/>
          <p:nvPr/>
        </p:nvSpPr>
        <p:spPr>
          <a:xfrm>
            <a:off x="2061972" y="1901952"/>
            <a:ext cx="768096" cy="768096"/>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0" name="Image 0" descr="preencoded.png">    </p:cNvPr>
          <p:cNvPicPr>
            <a:picLocks noChangeAspect="1"/>
          </p:cNvPicPr>
          <p:nvPr/>
        </p:nvPicPr>
        <p:blipFill>
          <a:blip r:embed="rId1"/>
          <a:stretch>
            <a:fillRect/>
          </a:stretch>
        </p:blipFill>
        <p:spPr>
          <a:xfrm>
            <a:off x="2261677" y="2101657"/>
            <a:ext cx="368686" cy="368686"/>
          </a:xfrm>
          <a:prstGeom prst="rect">
            <a:avLst/>
          </a:prstGeom>
        </p:spPr>
      </p:pic>
      <p:sp>
        <p:nvSpPr>
          <p:cNvPr id="11" name="Text 8"/>
          <p:cNvSpPr/>
          <p:nvPr/>
        </p:nvSpPr>
        <p:spPr>
          <a:xfrm>
            <a:off x="640080" y="2578608"/>
            <a:ext cx="3611880" cy="36576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Member</a:t>
            </a:r>
            <a:endParaRPr lang="en-US" sz="1900" dirty="0"/>
          </a:p>
        </p:txBody>
      </p:sp>
      <p:sp>
        <p:nvSpPr>
          <p:cNvPr id="12" name="Text 9"/>
          <p:cNvSpPr/>
          <p:nvPr/>
        </p:nvSpPr>
        <p:spPr>
          <a:xfrm>
            <a:off x="1005840" y="3246120"/>
            <a:ext cx="2971800" cy="2468880"/>
          </a:xfrm>
          <a:prstGeom prst="rect">
            <a:avLst/>
          </a:prstGeom>
          <a:noFill/>
          <a:ln/>
        </p:spPr>
        <p:txBody>
          <a:bodyPr wrap="square" rtlCol="0" anchor="ctr"/>
          <a:lstStyle/>
          <a:p>
            <a:pPr algn="l" indent="0" marL="0">
              <a:spcAft>
                <a:spcPts val="800"/>
              </a:spcAft>
              <a:buNone/>
            </a:pPr>
            <a:r>
              <a:rPr lang="en-US" sz="1260" b="1" dirty="0">
                <a:solidFill>
                  <a:srgbClr val="0F766E"/>
                </a:solidFill>
                <a:latin typeface="Calibri" pitchFamily="34" charset="0"/>
                <a:ea typeface="Calibri" pitchFamily="34" charset="-122"/>
                <a:cs typeface="Calibri" pitchFamily="34" charset="-120"/>
              </a:rPr>
              <a:t>Search &amp; browse catalogue</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Borrow, return &amp; reserve</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Read &amp; download eBooks</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History, fines &amp; reviews</a:t>
            </a:r>
            <a:endParaRPr lang="en-US" sz="1260" dirty="0"/>
          </a:p>
        </p:txBody>
      </p:sp>
      <p:sp>
        <p:nvSpPr>
          <p:cNvPr id="13" name="Shape 10"/>
          <p:cNvSpPr/>
          <p:nvPr/>
        </p:nvSpPr>
        <p:spPr>
          <a:xfrm>
            <a:off x="4507992" y="1737360"/>
            <a:ext cx="3611880" cy="4206240"/>
          </a:xfrm>
          <a:prstGeom prst="roundRect">
            <a:avLst>
              <a:gd name="adj" fmla="val 2025"/>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14" name="Shape 11"/>
          <p:cNvSpPr/>
          <p:nvPr/>
        </p:nvSpPr>
        <p:spPr>
          <a:xfrm>
            <a:off x="4507992" y="1737360"/>
            <a:ext cx="3611880" cy="1234440"/>
          </a:xfrm>
          <a:prstGeom prst="roundRect">
            <a:avLst>
              <a:gd name="adj" fmla="val 5926"/>
            </a:avLst>
          </a:prstGeom>
          <a:solidFill>
            <a:srgbClr val="14B8A6"/>
          </a:solidFill>
          <a:ln/>
        </p:spPr>
      </p:sp>
      <p:sp>
        <p:nvSpPr>
          <p:cNvPr id="15" name="Shape 12"/>
          <p:cNvSpPr/>
          <p:nvPr/>
        </p:nvSpPr>
        <p:spPr>
          <a:xfrm>
            <a:off x="4507992" y="2423160"/>
            <a:ext cx="3611880" cy="548640"/>
          </a:xfrm>
          <a:prstGeom prst="rect">
            <a:avLst/>
          </a:prstGeom>
          <a:solidFill>
            <a:srgbClr val="14B8A6"/>
          </a:solidFill>
          <a:ln/>
        </p:spPr>
      </p:sp>
      <p:sp>
        <p:nvSpPr>
          <p:cNvPr id="16" name="Shape 13"/>
          <p:cNvSpPr/>
          <p:nvPr/>
        </p:nvSpPr>
        <p:spPr>
          <a:xfrm>
            <a:off x="5929884" y="1901952"/>
            <a:ext cx="768096" cy="768096"/>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7" name="Image 1" descr="preencoded.png">    </p:cNvPr>
          <p:cNvPicPr>
            <a:picLocks noChangeAspect="1"/>
          </p:cNvPicPr>
          <p:nvPr/>
        </p:nvPicPr>
        <p:blipFill>
          <a:blip r:embed="rId2"/>
          <a:stretch>
            <a:fillRect/>
          </a:stretch>
        </p:blipFill>
        <p:spPr>
          <a:xfrm>
            <a:off x="6129589" y="2101657"/>
            <a:ext cx="368686" cy="368686"/>
          </a:xfrm>
          <a:prstGeom prst="rect">
            <a:avLst/>
          </a:prstGeom>
        </p:spPr>
      </p:pic>
      <p:sp>
        <p:nvSpPr>
          <p:cNvPr id="18" name="Text 14"/>
          <p:cNvSpPr/>
          <p:nvPr/>
        </p:nvSpPr>
        <p:spPr>
          <a:xfrm>
            <a:off x="4507992" y="2578608"/>
            <a:ext cx="3611880" cy="36576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Librarian</a:t>
            </a:r>
            <a:endParaRPr lang="en-US" sz="1900" dirty="0"/>
          </a:p>
        </p:txBody>
      </p:sp>
      <p:sp>
        <p:nvSpPr>
          <p:cNvPr id="19" name="Text 15"/>
          <p:cNvSpPr/>
          <p:nvPr/>
        </p:nvSpPr>
        <p:spPr>
          <a:xfrm>
            <a:off x="4873752" y="3246120"/>
            <a:ext cx="2971800" cy="2468880"/>
          </a:xfrm>
          <a:prstGeom prst="rect">
            <a:avLst/>
          </a:prstGeom>
          <a:noFill/>
          <a:ln/>
        </p:spPr>
        <p:txBody>
          <a:bodyPr wrap="square" rtlCol="0" anchor="ctr"/>
          <a:lstStyle/>
          <a:p>
            <a:pPr algn="l" indent="0" marL="0">
              <a:spcAft>
                <a:spcPts val="800"/>
              </a:spcAft>
              <a:buNone/>
            </a:pPr>
            <a:r>
              <a:rPr lang="en-US" sz="1260" b="1" dirty="0">
                <a:solidFill>
                  <a:srgbClr val="14B8A6"/>
                </a:solidFill>
                <a:latin typeface="Calibri" pitchFamily="34" charset="0"/>
                <a:ea typeface="Calibri" pitchFamily="34" charset="-122"/>
                <a:cs typeface="Calibri" pitchFamily="34" charset="-120"/>
              </a:rPr>
              <a:t>All member actions, plus:</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Issue &amp; return at the desk</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Manage reservations &amp; catalogue</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QR scanning at the counter</a:t>
            </a:r>
            <a:endParaRPr lang="en-US" sz="1260" dirty="0"/>
          </a:p>
        </p:txBody>
      </p:sp>
      <p:sp>
        <p:nvSpPr>
          <p:cNvPr id="20" name="Shape 16"/>
          <p:cNvSpPr/>
          <p:nvPr/>
        </p:nvSpPr>
        <p:spPr>
          <a:xfrm>
            <a:off x="8375904" y="1737360"/>
            <a:ext cx="3611880" cy="4206240"/>
          </a:xfrm>
          <a:prstGeom prst="roundRect">
            <a:avLst>
              <a:gd name="adj" fmla="val 2025"/>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21" name="Shape 17"/>
          <p:cNvSpPr/>
          <p:nvPr/>
        </p:nvSpPr>
        <p:spPr>
          <a:xfrm>
            <a:off x="8375904" y="1737360"/>
            <a:ext cx="3611880" cy="1234440"/>
          </a:xfrm>
          <a:prstGeom prst="roundRect">
            <a:avLst>
              <a:gd name="adj" fmla="val 5926"/>
            </a:avLst>
          </a:prstGeom>
          <a:solidFill>
            <a:srgbClr val="1E293B"/>
          </a:solidFill>
          <a:ln/>
        </p:spPr>
      </p:sp>
      <p:sp>
        <p:nvSpPr>
          <p:cNvPr id="22" name="Shape 18"/>
          <p:cNvSpPr/>
          <p:nvPr/>
        </p:nvSpPr>
        <p:spPr>
          <a:xfrm>
            <a:off x="8375904" y="2423160"/>
            <a:ext cx="3611880" cy="548640"/>
          </a:xfrm>
          <a:prstGeom prst="rect">
            <a:avLst/>
          </a:prstGeom>
          <a:solidFill>
            <a:srgbClr val="1E293B"/>
          </a:solidFill>
          <a:ln/>
        </p:spPr>
      </p:sp>
      <p:sp>
        <p:nvSpPr>
          <p:cNvPr id="23" name="Shape 19"/>
          <p:cNvSpPr/>
          <p:nvPr/>
        </p:nvSpPr>
        <p:spPr>
          <a:xfrm>
            <a:off x="9797796" y="1901952"/>
            <a:ext cx="768096" cy="768096"/>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4" name="Image 2" descr="preencoded.png">    </p:cNvPr>
          <p:cNvPicPr>
            <a:picLocks noChangeAspect="1"/>
          </p:cNvPicPr>
          <p:nvPr/>
        </p:nvPicPr>
        <p:blipFill>
          <a:blip r:embed="rId3"/>
          <a:stretch>
            <a:fillRect/>
          </a:stretch>
        </p:blipFill>
        <p:spPr>
          <a:xfrm>
            <a:off x="9997501" y="2101657"/>
            <a:ext cx="368686" cy="368686"/>
          </a:xfrm>
          <a:prstGeom prst="rect">
            <a:avLst/>
          </a:prstGeom>
        </p:spPr>
      </p:pic>
      <p:sp>
        <p:nvSpPr>
          <p:cNvPr id="25" name="Text 20"/>
          <p:cNvSpPr/>
          <p:nvPr/>
        </p:nvSpPr>
        <p:spPr>
          <a:xfrm>
            <a:off x="8375904" y="2578608"/>
            <a:ext cx="3611880" cy="36576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Administrator</a:t>
            </a:r>
            <a:endParaRPr lang="en-US" sz="1900" dirty="0"/>
          </a:p>
        </p:txBody>
      </p:sp>
      <p:sp>
        <p:nvSpPr>
          <p:cNvPr id="26" name="Text 21"/>
          <p:cNvSpPr/>
          <p:nvPr/>
        </p:nvSpPr>
        <p:spPr>
          <a:xfrm>
            <a:off x="8741664" y="3246120"/>
            <a:ext cx="2971800" cy="2468880"/>
          </a:xfrm>
          <a:prstGeom prst="rect">
            <a:avLst/>
          </a:prstGeom>
          <a:noFill/>
          <a:ln/>
        </p:spPr>
        <p:txBody>
          <a:bodyPr wrap="square" rtlCol="0" anchor="ctr"/>
          <a:lstStyle/>
          <a:p>
            <a:pPr algn="l" indent="0" marL="0">
              <a:spcAft>
                <a:spcPts val="800"/>
              </a:spcAft>
              <a:buNone/>
            </a:pPr>
            <a:r>
              <a:rPr lang="en-US" sz="1260" b="1" dirty="0">
                <a:solidFill>
                  <a:srgbClr val="1E293B"/>
                </a:solidFill>
                <a:latin typeface="Calibri" pitchFamily="34" charset="0"/>
                <a:ea typeface="Calibri" pitchFamily="34" charset="-122"/>
                <a:cs typeface="Calibri" pitchFamily="34" charset="-120"/>
              </a:rPr>
              <a:t>All librarian actions, plus:</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Manage user accounts</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Inspect the activity log</a:t>
            </a:r>
            <a:endParaRPr lang="en-US" sz="1260" dirty="0"/>
          </a:p>
          <a:p>
            <a:pPr algn="l" marL="203200" indent="-203200">
              <a:spcAft>
                <a:spcPts val="800"/>
              </a:spcAft>
              <a:buSzPct val="100000"/>
              <a:buChar char="•"/>
            </a:pPr>
            <a:r>
              <a:rPr lang="en-US" sz="1260" dirty="0">
                <a:solidFill>
                  <a:srgbClr val="0F172A"/>
                </a:solidFill>
                <a:latin typeface="Calibri" pitchFamily="34" charset="0"/>
                <a:ea typeface="Calibri" pitchFamily="34" charset="-122"/>
                <a:cs typeface="Calibri" pitchFamily="34" charset="-120"/>
              </a:rPr>
              <a:t>Access analytics &amp; reports</a:t>
            </a:r>
            <a:endParaRPr lang="en-US" sz="1260" dirty="0"/>
          </a:p>
        </p:txBody>
      </p:sp>
      <p:sp>
        <p:nvSpPr>
          <p:cNvPr id="27" name="Text 22"/>
          <p:cNvSpPr/>
          <p:nvPr/>
        </p:nvSpPr>
        <p:spPr>
          <a:xfrm>
            <a:off x="640080" y="6053328"/>
            <a:ext cx="10972800" cy="320040"/>
          </a:xfrm>
          <a:prstGeom prst="rect">
            <a:avLst/>
          </a:prstGeom>
          <a:noFill/>
          <a:ln/>
        </p:spPr>
        <p:txBody>
          <a:bodyPr wrap="square"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Access is cumulative — each higher role inherits every capability of the roles beneath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FUNCTIONAL FEATURES</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Core Functionality</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640080" y="1783080"/>
            <a:ext cx="5394960" cy="1783080"/>
          </a:xfrm>
          <a:prstGeom prst="roundRect">
            <a:avLst>
              <a:gd name="adj" fmla="val 3590"/>
            </a:avLst>
          </a:prstGeom>
          <a:solidFill>
            <a:srgbClr val="F1F5F9"/>
          </a:solidFill>
          <a:ln/>
          <a:effectLst>
            <a:outerShdw sx="100000" sy="100000" kx="0" ky="0" algn="bl" rotWithShape="0" blurRad="114300" dist="38100" dir="5400000">
              <a:srgbClr val="1E293B">
                <a:alpha val="16000"/>
              </a:srgbClr>
            </a:outerShdw>
          </a:effectLst>
        </p:spPr>
      </p:sp>
      <p:sp>
        <p:nvSpPr>
          <p:cNvPr id="7" name="Shape 5"/>
          <p:cNvSpPr/>
          <p:nvPr/>
        </p:nvSpPr>
        <p:spPr>
          <a:xfrm>
            <a:off x="960120" y="2286000"/>
            <a:ext cx="822960" cy="82296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1174090" y="2499970"/>
            <a:ext cx="395021" cy="395021"/>
          </a:xfrm>
          <a:prstGeom prst="rect">
            <a:avLst/>
          </a:prstGeom>
        </p:spPr>
      </p:pic>
      <p:sp>
        <p:nvSpPr>
          <p:cNvPr id="9" name="Text 6"/>
          <p:cNvSpPr/>
          <p:nvPr/>
        </p:nvSpPr>
        <p:spPr>
          <a:xfrm>
            <a:off x="1965960" y="2103120"/>
            <a:ext cx="3840480" cy="502920"/>
          </a:xfrm>
          <a:prstGeom prst="rect">
            <a:avLst/>
          </a:prstGeom>
          <a:noFill/>
          <a:ln/>
        </p:spPr>
        <p:txBody>
          <a:bodyPr wrap="square" rtlCol="0" anchor="ctr"/>
          <a:lstStyle/>
          <a:p>
            <a:pPr algn="l" indent="0" marL="0">
              <a:buNone/>
            </a:pPr>
            <a:r>
              <a:rPr lang="en-US" sz="1700" b="1" dirty="0">
                <a:solidFill>
                  <a:srgbClr val="12233B"/>
                </a:solidFill>
                <a:latin typeface="Cambria" pitchFamily="34" charset="0"/>
                <a:ea typeface="Cambria" pitchFamily="34" charset="-122"/>
                <a:cs typeface="Cambria" pitchFamily="34" charset="-120"/>
              </a:rPr>
              <a:t>Borrow &amp; return</a:t>
            </a:r>
            <a:endParaRPr lang="en-US" sz="1700" dirty="0"/>
          </a:p>
        </p:txBody>
      </p:sp>
      <p:sp>
        <p:nvSpPr>
          <p:cNvPr id="10" name="Text 7"/>
          <p:cNvSpPr/>
          <p:nvPr/>
        </p:nvSpPr>
        <p:spPr>
          <a:xfrm>
            <a:off x="1965960" y="2624328"/>
            <a:ext cx="3840480" cy="822960"/>
          </a:xfrm>
          <a:prstGeom prst="rect">
            <a:avLst/>
          </a:prstGeom>
          <a:noFill/>
          <a:ln/>
        </p:spPr>
        <p:txBody>
          <a:bodyPr wrap="square" rtlCol="0" anchor="ctr"/>
          <a:lstStyle/>
          <a:p>
            <a:pPr algn="l" indent="0" marL="0">
              <a:lnSpc>
                <a:spcPct val="105000"/>
              </a:lnSpc>
              <a:buNone/>
            </a:pPr>
            <a:r>
              <a:rPr lang="en-US" sz="1300" dirty="0">
                <a:solidFill>
                  <a:srgbClr val="475569"/>
                </a:solidFill>
                <a:latin typeface="Calibri" pitchFamily="34" charset="0"/>
                <a:ea typeface="Calibri" pitchFamily="34" charset="-122"/>
                <a:cs typeface="Calibri" pitchFamily="34" charset="-120"/>
              </a:rPr>
              <a:t>Available copies adjust the instant a transaction happens.</a:t>
            </a:r>
            <a:endParaRPr lang="en-US" sz="1300" dirty="0"/>
          </a:p>
        </p:txBody>
      </p:sp>
      <p:sp>
        <p:nvSpPr>
          <p:cNvPr id="11" name="Shape 8"/>
          <p:cNvSpPr/>
          <p:nvPr/>
        </p:nvSpPr>
        <p:spPr>
          <a:xfrm>
            <a:off x="6217920" y="1783080"/>
            <a:ext cx="5394960" cy="1783080"/>
          </a:xfrm>
          <a:prstGeom prst="roundRect">
            <a:avLst>
              <a:gd name="adj" fmla="val 3590"/>
            </a:avLst>
          </a:prstGeom>
          <a:solidFill>
            <a:srgbClr val="F1F5F9"/>
          </a:solidFill>
          <a:ln/>
          <a:effectLst>
            <a:outerShdw sx="100000" sy="100000" kx="0" ky="0" algn="bl" rotWithShape="0" blurRad="114300" dist="38100" dir="5400000">
              <a:srgbClr val="1E293B">
                <a:alpha val="16000"/>
              </a:srgbClr>
            </a:outerShdw>
          </a:effectLst>
        </p:spPr>
      </p:sp>
      <p:sp>
        <p:nvSpPr>
          <p:cNvPr id="12" name="Shape 9"/>
          <p:cNvSpPr/>
          <p:nvPr/>
        </p:nvSpPr>
        <p:spPr>
          <a:xfrm>
            <a:off x="6537960" y="2286000"/>
            <a:ext cx="822960" cy="82296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3" name="Image 1" descr="preencoded.png">    </p:cNvPr>
          <p:cNvPicPr>
            <a:picLocks noChangeAspect="1"/>
          </p:cNvPicPr>
          <p:nvPr/>
        </p:nvPicPr>
        <p:blipFill>
          <a:blip r:embed="rId2"/>
          <a:stretch>
            <a:fillRect/>
          </a:stretch>
        </p:blipFill>
        <p:spPr>
          <a:xfrm>
            <a:off x="6751930" y="2499970"/>
            <a:ext cx="395021" cy="395021"/>
          </a:xfrm>
          <a:prstGeom prst="rect">
            <a:avLst/>
          </a:prstGeom>
        </p:spPr>
      </p:pic>
      <p:sp>
        <p:nvSpPr>
          <p:cNvPr id="14" name="Text 10"/>
          <p:cNvSpPr/>
          <p:nvPr/>
        </p:nvSpPr>
        <p:spPr>
          <a:xfrm>
            <a:off x="7543800" y="2103120"/>
            <a:ext cx="3840480" cy="502920"/>
          </a:xfrm>
          <a:prstGeom prst="rect">
            <a:avLst/>
          </a:prstGeom>
          <a:noFill/>
          <a:ln/>
        </p:spPr>
        <p:txBody>
          <a:bodyPr wrap="square" rtlCol="0" anchor="ctr"/>
          <a:lstStyle/>
          <a:p>
            <a:pPr algn="l" indent="0" marL="0">
              <a:buNone/>
            </a:pPr>
            <a:r>
              <a:rPr lang="en-US" sz="1700" b="1" dirty="0">
                <a:solidFill>
                  <a:srgbClr val="12233B"/>
                </a:solidFill>
                <a:latin typeface="Cambria" pitchFamily="34" charset="0"/>
                <a:ea typeface="Cambria" pitchFamily="34" charset="-122"/>
                <a:cs typeface="Cambria" pitchFamily="34" charset="-120"/>
              </a:rPr>
              <a:t>Reservation queue</a:t>
            </a:r>
            <a:endParaRPr lang="en-US" sz="1700" dirty="0"/>
          </a:p>
        </p:txBody>
      </p:sp>
      <p:sp>
        <p:nvSpPr>
          <p:cNvPr id="15" name="Text 11"/>
          <p:cNvSpPr/>
          <p:nvPr/>
        </p:nvSpPr>
        <p:spPr>
          <a:xfrm>
            <a:off x="7543800" y="2624328"/>
            <a:ext cx="3840480" cy="822960"/>
          </a:xfrm>
          <a:prstGeom prst="rect">
            <a:avLst/>
          </a:prstGeom>
          <a:noFill/>
          <a:ln/>
        </p:spPr>
        <p:txBody>
          <a:bodyPr wrap="square" rtlCol="0" anchor="ctr"/>
          <a:lstStyle/>
          <a:p>
            <a:pPr algn="l" indent="0" marL="0">
              <a:lnSpc>
                <a:spcPct val="105000"/>
              </a:lnSpc>
              <a:buNone/>
            </a:pPr>
            <a:r>
              <a:rPr lang="en-US" sz="1300" dirty="0">
                <a:solidFill>
                  <a:srgbClr val="475569"/>
                </a:solidFill>
                <a:latin typeface="Calibri" pitchFamily="34" charset="0"/>
                <a:ea typeface="Calibri" pitchFamily="34" charset="-122"/>
                <a:cs typeface="Calibri" pitchFamily="34" charset="-120"/>
              </a:rPr>
              <a:t>The next member is notified automatically on return.</a:t>
            </a:r>
            <a:endParaRPr lang="en-US" sz="1300" dirty="0"/>
          </a:p>
        </p:txBody>
      </p:sp>
      <p:sp>
        <p:nvSpPr>
          <p:cNvPr id="16" name="Shape 12"/>
          <p:cNvSpPr/>
          <p:nvPr/>
        </p:nvSpPr>
        <p:spPr>
          <a:xfrm>
            <a:off x="640080" y="3822192"/>
            <a:ext cx="5394960" cy="1783080"/>
          </a:xfrm>
          <a:prstGeom prst="roundRect">
            <a:avLst>
              <a:gd name="adj" fmla="val 3590"/>
            </a:avLst>
          </a:prstGeom>
          <a:solidFill>
            <a:srgbClr val="F1F5F9"/>
          </a:solidFill>
          <a:ln/>
          <a:effectLst>
            <a:outerShdw sx="100000" sy="100000" kx="0" ky="0" algn="bl" rotWithShape="0" blurRad="114300" dist="38100" dir="5400000">
              <a:srgbClr val="1E293B">
                <a:alpha val="16000"/>
              </a:srgbClr>
            </a:outerShdw>
          </a:effectLst>
        </p:spPr>
      </p:sp>
      <p:sp>
        <p:nvSpPr>
          <p:cNvPr id="17" name="Shape 13"/>
          <p:cNvSpPr/>
          <p:nvPr/>
        </p:nvSpPr>
        <p:spPr>
          <a:xfrm>
            <a:off x="960120" y="4325112"/>
            <a:ext cx="822960" cy="82296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8" name="Image 2" descr="preencoded.png">    </p:cNvPr>
          <p:cNvPicPr>
            <a:picLocks noChangeAspect="1"/>
          </p:cNvPicPr>
          <p:nvPr/>
        </p:nvPicPr>
        <p:blipFill>
          <a:blip r:embed="rId3"/>
          <a:stretch>
            <a:fillRect/>
          </a:stretch>
        </p:blipFill>
        <p:spPr>
          <a:xfrm>
            <a:off x="1174090" y="4539082"/>
            <a:ext cx="395021" cy="395021"/>
          </a:xfrm>
          <a:prstGeom prst="rect">
            <a:avLst/>
          </a:prstGeom>
        </p:spPr>
      </p:pic>
      <p:sp>
        <p:nvSpPr>
          <p:cNvPr id="19" name="Text 14"/>
          <p:cNvSpPr/>
          <p:nvPr/>
        </p:nvSpPr>
        <p:spPr>
          <a:xfrm>
            <a:off x="1965960" y="4142232"/>
            <a:ext cx="3840480" cy="502920"/>
          </a:xfrm>
          <a:prstGeom prst="rect">
            <a:avLst/>
          </a:prstGeom>
          <a:noFill/>
          <a:ln/>
        </p:spPr>
        <p:txBody>
          <a:bodyPr wrap="square" rtlCol="0" anchor="ctr"/>
          <a:lstStyle/>
          <a:p>
            <a:pPr algn="l" indent="0" marL="0">
              <a:buNone/>
            </a:pPr>
            <a:r>
              <a:rPr lang="en-US" sz="1700" b="1" dirty="0">
                <a:solidFill>
                  <a:srgbClr val="12233B"/>
                </a:solidFill>
                <a:latin typeface="Cambria" pitchFamily="34" charset="0"/>
                <a:ea typeface="Cambria" pitchFamily="34" charset="-122"/>
                <a:cs typeface="Cambria" pitchFamily="34" charset="-120"/>
              </a:rPr>
              <a:t>Automatic fines</a:t>
            </a:r>
            <a:endParaRPr lang="en-US" sz="1700" dirty="0"/>
          </a:p>
        </p:txBody>
      </p:sp>
      <p:sp>
        <p:nvSpPr>
          <p:cNvPr id="20" name="Text 15"/>
          <p:cNvSpPr/>
          <p:nvPr/>
        </p:nvSpPr>
        <p:spPr>
          <a:xfrm>
            <a:off x="1965960" y="4663440"/>
            <a:ext cx="3840480" cy="822960"/>
          </a:xfrm>
          <a:prstGeom prst="rect">
            <a:avLst/>
          </a:prstGeom>
          <a:noFill/>
          <a:ln/>
        </p:spPr>
        <p:txBody>
          <a:bodyPr wrap="square" rtlCol="0" anchor="ctr"/>
          <a:lstStyle/>
          <a:p>
            <a:pPr algn="l" indent="0" marL="0">
              <a:lnSpc>
                <a:spcPct val="105000"/>
              </a:lnSpc>
              <a:buNone/>
            </a:pPr>
            <a:r>
              <a:rPr lang="en-US" sz="1300" dirty="0">
                <a:solidFill>
                  <a:srgbClr val="475569"/>
                </a:solidFill>
                <a:latin typeface="Calibri" pitchFamily="34" charset="0"/>
                <a:ea typeface="Calibri" pitchFamily="34" charset="-122"/>
                <a:cs typeface="Calibri" pitchFamily="34" charset="-120"/>
              </a:rPr>
              <a:t>Recalculated at each login, so figures are always current.</a:t>
            </a:r>
            <a:endParaRPr lang="en-US" sz="1300" dirty="0"/>
          </a:p>
        </p:txBody>
      </p:sp>
      <p:sp>
        <p:nvSpPr>
          <p:cNvPr id="21" name="Shape 16"/>
          <p:cNvSpPr/>
          <p:nvPr/>
        </p:nvSpPr>
        <p:spPr>
          <a:xfrm>
            <a:off x="6217920" y="3822192"/>
            <a:ext cx="5394960" cy="1783080"/>
          </a:xfrm>
          <a:prstGeom prst="roundRect">
            <a:avLst>
              <a:gd name="adj" fmla="val 3590"/>
            </a:avLst>
          </a:prstGeom>
          <a:solidFill>
            <a:srgbClr val="F1F5F9"/>
          </a:solidFill>
          <a:ln/>
          <a:effectLst>
            <a:outerShdw sx="100000" sy="100000" kx="0" ky="0" algn="bl" rotWithShape="0" blurRad="114300" dist="38100" dir="5400000">
              <a:srgbClr val="1E293B">
                <a:alpha val="16000"/>
              </a:srgbClr>
            </a:outerShdw>
          </a:effectLst>
        </p:spPr>
      </p:sp>
      <p:sp>
        <p:nvSpPr>
          <p:cNvPr id="22" name="Shape 17"/>
          <p:cNvSpPr/>
          <p:nvPr/>
        </p:nvSpPr>
        <p:spPr>
          <a:xfrm>
            <a:off x="6537960" y="4325112"/>
            <a:ext cx="822960" cy="82296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3" name="Image 3" descr="preencoded.png">    </p:cNvPr>
          <p:cNvPicPr>
            <a:picLocks noChangeAspect="1"/>
          </p:cNvPicPr>
          <p:nvPr/>
        </p:nvPicPr>
        <p:blipFill>
          <a:blip r:embed="rId4"/>
          <a:stretch>
            <a:fillRect/>
          </a:stretch>
        </p:blipFill>
        <p:spPr>
          <a:xfrm>
            <a:off x="6751930" y="4539082"/>
            <a:ext cx="395021" cy="395021"/>
          </a:xfrm>
          <a:prstGeom prst="rect">
            <a:avLst/>
          </a:prstGeom>
        </p:spPr>
      </p:pic>
      <p:sp>
        <p:nvSpPr>
          <p:cNvPr id="24" name="Text 18"/>
          <p:cNvSpPr/>
          <p:nvPr/>
        </p:nvSpPr>
        <p:spPr>
          <a:xfrm>
            <a:off x="7543800" y="4142232"/>
            <a:ext cx="3840480" cy="502920"/>
          </a:xfrm>
          <a:prstGeom prst="rect">
            <a:avLst/>
          </a:prstGeom>
          <a:noFill/>
          <a:ln/>
        </p:spPr>
        <p:txBody>
          <a:bodyPr wrap="square" rtlCol="0" anchor="ctr"/>
          <a:lstStyle/>
          <a:p>
            <a:pPr algn="l" indent="0" marL="0">
              <a:buNone/>
            </a:pPr>
            <a:r>
              <a:rPr lang="en-US" sz="1700" b="1" dirty="0">
                <a:solidFill>
                  <a:srgbClr val="12233B"/>
                </a:solidFill>
                <a:latin typeface="Cambria" pitchFamily="34" charset="0"/>
                <a:ea typeface="Cambria" pitchFamily="34" charset="-122"/>
                <a:cs typeface="Cambria" pitchFamily="34" charset="-120"/>
              </a:rPr>
              <a:t>Profiles &amp; reviews</a:t>
            </a:r>
            <a:endParaRPr lang="en-US" sz="1700" dirty="0"/>
          </a:p>
        </p:txBody>
      </p:sp>
      <p:sp>
        <p:nvSpPr>
          <p:cNvPr id="25" name="Text 19"/>
          <p:cNvSpPr/>
          <p:nvPr/>
        </p:nvSpPr>
        <p:spPr>
          <a:xfrm>
            <a:off x="7543800" y="4663440"/>
            <a:ext cx="3840480" cy="822960"/>
          </a:xfrm>
          <a:prstGeom prst="rect">
            <a:avLst/>
          </a:prstGeom>
          <a:noFill/>
          <a:ln/>
        </p:spPr>
        <p:txBody>
          <a:bodyPr wrap="square" rtlCol="0" anchor="ctr"/>
          <a:lstStyle/>
          <a:p>
            <a:pPr algn="l" indent="0" marL="0">
              <a:lnSpc>
                <a:spcPct val="105000"/>
              </a:lnSpc>
              <a:buNone/>
            </a:pPr>
            <a:r>
              <a:rPr lang="en-US" sz="1300" dirty="0">
                <a:solidFill>
                  <a:srgbClr val="475569"/>
                </a:solidFill>
                <a:latin typeface="Calibri" pitchFamily="34" charset="0"/>
                <a:ea typeface="Calibri" pitchFamily="34" charset="-122"/>
                <a:cs typeface="Calibri" pitchFamily="34" charset="-120"/>
              </a:rPr>
              <a:t>Personal history, plus ratings and reviews of titles.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FUNCTIONAL FEATURES</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Advanced Features That Go Beyond</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640080" y="1691640"/>
            <a:ext cx="3611880" cy="1920240"/>
          </a:xfrm>
          <a:prstGeom prst="roundRect">
            <a:avLst>
              <a:gd name="adj" fmla="val 3333"/>
            </a:avLst>
          </a:prstGeom>
          <a:solidFill>
            <a:srgbClr val="F0FDFA"/>
          </a:solidFill>
          <a:ln/>
          <a:effectLst>
            <a:outerShdw sx="100000" sy="100000" kx="0" ky="0" algn="bl" rotWithShape="0" blurRad="114300" dist="38100" dir="5400000">
              <a:srgbClr val="1E293B">
                <a:alpha val="16000"/>
              </a:srgbClr>
            </a:outerShdw>
          </a:effectLst>
        </p:spPr>
      </p:sp>
      <p:sp>
        <p:nvSpPr>
          <p:cNvPr id="7" name="Shape 5"/>
          <p:cNvSpPr/>
          <p:nvPr/>
        </p:nvSpPr>
        <p:spPr>
          <a:xfrm>
            <a:off x="932688" y="1984248"/>
            <a:ext cx="731520" cy="73152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1122883" y="2174443"/>
            <a:ext cx="351130" cy="351130"/>
          </a:xfrm>
          <a:prstGeom prst="rect">
            <a:avLst/>
          </a:prstGeom>
        </p:spPr>
      </p:pic>
      <p:sp>
        <p:nvSpPr>
          <p:cNvPr id="9" name="Text 6"/>
          <p:cNvSpPr/>
          <p:nvPr/>
        </p:nvSpPr>
        <p:spPr>
          <a:xfrm>
            <a:off x="1783080" y="2002536"/>
            <a:ext cx="2286000" cy="685800"/>
          </a:xfrm>
          <a:prstGeom prst="rect">
            <a:avLst/>
          </a:prstGeom>
          <a:noFill/>
          <a:ln/>
        </p:spPr>
        <p:txBody>
          <a:bodyPr wrap="square" rtlCol="0" anchor="t"/>
          <a:lstStyle/>
          <a:p>
            <a:pPr algn="l" indent="0" marL="0">
              <a:buNone/>
            </a:pPr>
            <a:r>
              <a:rPr lang="en-US" sz="1450" b="1" dirty="0">
                <a:solidFill>
                  <a:srgbClr val="0F766E"/>
                </a:solidFill>
                <a:latin typeface="Cambria" pitchFamily="34" charset="0"/>
                <a:ea typeface="Cambria" pitchFamily="34" charset="-122"/>
                <a:cs typeface="Cambria" pitchFamily="34" charset="-120"/>
              </a:rPr>
              <a:t>Smart search &amp; filters</a:t>
            </a:r>
            <a:endParaRPr lang="en-US" sz="1450" dirty="0"/>
          </a:p>
        </p:txBody>
      </p:sp>
      <p:sp>
        <p:nvSpPr>
          <p:cNvPr id="10" name="Text 7"/>
          <p:cNvSpPr/>
          <p:nvPr/>
        </p:nvSpPr>
        <p:spPr>
          <a:xfrm>
            <a:off x="932688" y="2788920"/>
            <a:ext cx="3063240" cy="731520"/>
          </a:xfrm>
          <a:prstGeom prst="rect">
            <a:avLst/>
          </a:prstGeom>
          <a:noFill/>
          <a:ln/>
        </p:spPr>
        <p:txBody>
          <a:bodyPr wrap="square" rtlCol="0" anchor="t"/>
          <a:lstStyle/>
          <a:p>
            <a:pPr algn="l" indent="0" marL="0">
              <a:lnSpc>
                <a:spcPct val="103000"/>
              </a:lnSpc>
              <a:buNone/>
            </a:pPr>
            <a:r>
              <a:rPr lang="en-US" sz="1200" dirty="0">
                <a:solidFill>
                  <a:srgbClr val="475569"/>
                </a:solidFill>
                <a:latin typeface="Calibri" pitchFamily="34" charset="0"/>
                <a:ea typeface="Calibri" pitchFamily="34" charset="-122"/>
                <a:cs typeface="Calibri" pitchFamily="34" charset="-120"/>
              </a:rPr>
              <a:t>Instant results by title, author or ISBN.</a:t>
            </a:r>
            <a:endParaRPr lang="en-US" sz="1200" dirty="0"/>
          </a:p>
        </p:txBody>
      </p:sp>
      <p:sp>
        <p:nvSpPr>
          <p:cNvPr id="11" name="Shape 8"/>
          <p:cNvSpPr/>
          <p:nvPr/>
        </p:nvSpPr>
        <p:spPr>
          <a:xfrm>
            <a:off x="4507992" y="1691640"/>
            <a:ext cx="3611880" cy="1920240"/>
          </a:xfrm>
          <a:prstGeom prst="roundRect">
            <a:avLst>
              <a:gd name="adj" fmla="val 3333"/>
            </a:avLst>
          </a:prstGeom>
          <a:solidFill>
            <a:srgbClr val="F0FDFA"/>
          </a:solidFill>
          <a:ln/>
          <a:effectLst>
            <a:outerShdw sx="100000" sy="100000" kx="0" ky="0" algn="bl" rotWithShape="0" blurRad="114300" dist="38100" dir="5400000">
              <a:srgbClr val="1E293B">
                <a:alpha val="16000"/>
              </a:srgbClr>
            </a:outerShdw>
          </a:effectLst>
        </p:spPr>
      </p:sp>
      <p:sp>
        <p:nvSpPr>
          <p:cNvPr id="12" name="Shape 9"/>
          <p:cNvSpPr/>
          <p:nvPr/>
        </p:nvSpPr>
        <p:spPr>
          <a:xfrm>
            <a:off x="4800600" y="1984248"/>
            <a:ext cx="731520" cy="73152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3" name="Image 1" descr="preencoded.png">    </p:cNvPr>
          <p:cNvPicPr>
            <a:picLocks noChangeAspect="1"/>
          </p:cNvPicPr>
          <p:nvPr/>
        </p:nvPicPr>
        <p:blipFill>
          <a:blip r:embed="rId2"/>
          <a:stretch>
            <a:fillRect/>
          </a:stretch>
        </p:blipFill>
        <p:spPr>
          <a:xfrm>
            <a:off x="4990795" y="2174443"/>
            <a:ext cx="351130" cy="351130"/>
          </a:xfrm>
          <a:prstGeom prst="rect">
            <a:avLst/>
          </a:prstGeom>
        </p:spPr>
      </p:pic>
      <p:sp>
        <p:nvSpPr>
          <p:cNvPr id="14" name="Text 10"/>
          <p:cNvSpPr/>
          <p:nvPr/>
        </p:nvSpPr>
        <p:spPr>
          <a:xfrm>
            <a:off x="5650992" y="2002536"/>
            <a:ext cx="2286000" cy="685800"/>
          </a:xfrm>
          <a:prstGeom prst="rect">
            <a:avLst/>
          </a:prstGeom>
          <a:noFill/>
          <a:ln/>
        </p:spPr>
        <p:txBody>
          <a:bodyPr wrap="square" rtlCol="0" anchor="t"/>
          <a:lstStyle/>
          <a:p>
            <a:pPr algn="l" indent="0" marL="0">
              <a:buNone/>
            </a:pPr>
            <a:r>
              <a:rPr lang="en-US" sz="1450" b="1" dirty="0">
                <a:solidFill>
                  <a:srgbClr val="0F766E"/>
                </a:solidFill>
                <a:latin typeface="Cambria" pitchFamily="34" charset="0"/>
                <a:ea typeface="Cambria" pitchFamily="34" charset="-122"/>
                <a:cs typeface="Cambria" pitchFamily="34" charset="-120"/>
              </a:rPr>
              <a:t>Recommendations</a:t>
            </a:r>
            <a:endParaRPr lang="en-US" sz="1450" dirty="0"/>
          </a:p>
        </p:txBody>
      </p:sp>
      <p:sp>
        <p:nvSpPr>
          <p:cNvPr id="15" name="Text 11"/>
          <p:cNvSpPr/>
          <p:nvPr/>
        </p:nvSpPr>
        <p:spPr>
          <a:xfrm>
            <a:off x="4800600" y="2788920"/>
            <a:ext cx="3063240" cy="731520"/>
          </a:xfrm>
          <a:prstGeom prst="rect">
            <a:avLst/>
          </a:prstGeom>
          <a:noFill/>
          <a:ln/>
        </p:spPr>
        <p:txBody>
          <a:bodyPr wrap="square" rtlCol="0" anchor="t"/>
          <a:lstStyle/>
          <a:p>
            <a:pPr algn="l" indent="0" marL="0">
              <a:lnSpc>
                <a:spcPct val="103000"/>
              </a:lnSpc>
              <a:buNone/>
            </a:pPr>
            <a:r>
              <a:rPr lang="en-US" sz="1200" dirty="0">
                <a:solidFill>
                  <a:srgbClr val="475569"/>
                </a:solidFill>
                <a:latin typeface="Calibri" pitchFamily="34" charset="0"/>
                <a:ea typeface="Calibri" pitchFamily="34" charset="-122"/>
                <a:cs typeface="Calibri" pitchFamily="34" charset="-120"/>
              </a:rPr>
              <a:t>Suggested from history and overall popularity.</a:t>
            </a:r>
            <a:endParaRPr lang="en-US" sz="1200" dirty="0"/>
          </a:p>
        </p:txBody>
      </p:sp>
      <p:sp>
        <p:nvSpPr>
          <p:cNvPr id="16" name="Shape 12"/>
          <p:cNvSpPr/>
          <p:nvPr/>
        </p:nvSpPr>
        <p:spPr>
          <a:xfrm>
            <a:off x="8375904" y="1691640"/>
            <a:ext cx="3611880" cy="1920240"/>
          </a:xfrm>
          <a:prstGeom prst="roundRect">
            <a:avLst>
              <a:gd name="adj" fmla="val 3333"/>
            </a:avLst>
          </a:prstGeom>
          <a:solidFill>
            <a:srgbClr val="F0FDFA"/>
          </a:solidFill>
          <a:ln/>
          <a:effectLst>
            <a:outerShdw sx="100000" sy="100000" kx="0" ky="0" algn="bl" rotWithShape="0" blurRad="114300" dist="38100" dir="5400000">
              <a:srgbClr val="1E293B">
                <a:alpha val="16000"/>
              </a:srgbClr>
            </a:outerShdw>
          </a:effectLst>
        </p:spPr>
      </p:sp>
      <p:sp>
        <p:nvSpPr>
          <p:cNvPr id="17" name="Shape 13"/>
          <p:cNvSpPr/>
          <p:nvPr/>
        </p:nvSpPr>
        <p:spPr>
          <a:xfrm>
            <a:off x="8668512" y="1984248"/>
            <a:ext cx="731520" cy="73152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8" name="Image 2" descr="preencoded.png">    </p:cNvPr>
          <p:cNvPicPr>
            <a:picLocks noChangeAspect="1"/>
          </p:cNvPicPr>
          <p:nvPr/>
        </p:nvPicPr>
        <p:blipFill>
          <a:blip r:embed="rId3"/>
          <a:stretch>
            <a:fillRect/>
          </a:stretch>
        </p:blipFill>
        <p:spPr>
          <a:xfrm>
            <a:off x="8858707" y="2174443"/>
            <a:ext cx="351130" cy="351130"/>
          </a:xfrm>
          <a:prstGeom prst="rect">
            <a:avLst/>
          </a:prstGeom>
        </p:spPr>
      </p:pic>
      <p:sp>
        <p:nvSpPr>
          <p:cNvPr id="19" name="Text 14"/>
          <p:cNvSpPr/>
          <p:nvPr/>
        </p:nvSpPr>
        <p:spPr>
          <a:xfrm>
            <a:off x="9518904" y="2002536"/>
            <a:ext cx="2286000" cy="685800"/>
          </a:xfrm>
          <a:prstGeom prst="rect">
            <a:avLst/>
          </a:prstGeom>
          <a:noFill/>
          <a:ln/>
        </p:spPr>
        <p:txBody>
          <a:bodyPr wrap="square" rtlCol="0" anchor="t"/>
          <a:lstStyle/>
          <a:p>
            <a:pPr algn="l" indent="0" marL="0">
              <a:buNone/>
            </a:pPr>
            <a:r>
              <a:rPr lang="en-US" sz="1450" b="1" dirty="0">
                <a:solidFill>
                  <a:srgbClr val="0F766E"/>
                </a:solidFill>
                <a:latin typeface="Cambria" pitchFamily="34" charset="0"/>
                <a:ea typeface="Cambria" pitchFamily="34" charset="-122"/>
                <a:cs typeface="Cambria" pitchFamily="34" charset="-120"/>
              </a:rPr>
              <a:t>QR-code identification</a:t>
            </a:r>
            <a:endParaRPr lang="en-US" sz="1450" dirty="0"/>
          </a:p>
        </p:txBody>
      </p:sp>
      <p:sp>
        <p:nvSpPr>
          <p:cNvPr id="20" name="Text 15"/>
          <p:cNvSpPr/>
          <p:nvPr/>
        </p:nvSpPr>
        <p:spPr>
          <a:xfrm>
            <a:off x="8668512" y="2788920"/>
            <a:ext cx="3063240" cy="731520"/>
          </a:xfrm>
          <a:prstGeom prst="rect">
            <a:avLst/>
          </a:prstGeom>
          <a:noFill/>
          <a:ln/>
        </p:spPr>
        <p:txBody>
          <a:bodyPr wrap="square" rtlCol="0" anchor="t"/>
          <a:lstStyle/>
          <a:p>
            <a:pPr algn="l" indent="0" marL="0">
              <a:lnSpc>
                <a:spcPct val="103000"/>
              </a:lnSpc>
              <a:buNone/>
            </a:pPr>
            <a:r>
              <a:rPr lang="en-US" sz="1200" dirty="0">
                <a:solidFill>
                  <a:srgbClr val="475569"/>
                </a:solidFill>
                <a:latin typeface="Calibri" pitchFamily="34" charset="0"/>
                <a:ea typeface="Calibri" pitchFamily="34" charset="-122"/>
                <a:cs typeface="Calibri" pitchFamily="34" charset="-120"/>
              </a:rPr>
              <a:t>Fast issuing and returns at the counter.</a:t>
            </a:r>
            <a:endParaRPr lang="en-US" sz="1200" dirty="0"/>
          </a:p>
        </p:txBody>
      </p:sp>
      <p:sp>
        <p:nvSpPr>
          <p:cNvPr id="21" name="Shape 16"/>
          <p:cNvSpPr/>
          <p:nvPr/>
        </p:nvSpPr>
        <p:spPr>
          <a:xfrm>
            <a:off x="640080" y="3904488"/>
            <a:ext cx="3611880" cy="1920240"/>
          </a:xfrm>
          <a:prstGeom prst="roundRect">
            <a:avLst>
              <a:gd name="adj" fmla="val 3333"/>
            </a:avLst>
          </a:prstGeom>
          <a:solidFill>
            <a:srgbClr val="F0FDFA"/>
          </a:solidFill>
          <a:ln/>
          <a:effectLst>
            <a:outerShdw sx="100000" sy="100000" kx="0" ky="0" algn="bl" rotWithShape="0" blurRad="114300" dist="38100" dir="5400000">
              <a:srgbClr val="1E293B">
                <a:alpha val="16000"/>
              </a:srgbClr>
            </a:outerShdw>
          </a:effectLst>
        </p:spPr>
      </p:sp>
      <p:sp>
        <p:nvSpPr>
          <p:cNvPr id="22" name="Shape 17"/>
          <p:cNvSpPr/>
          <p:nvPr/>
        </p:nvSpPr>
        <p:spPr>
          <a:xfrm>
            <a:off x="932688" y="4197096"/>
            <a:ext cx="731520" cy="73152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3" name="Image 3" descr="preencoded.png">    </p:cNvPr>
          <p:cNvPicPr>
            <a:picLocks noChangeAspect="1"/>
          </p:cNvPicPr>
          <p:nvPr/>
        </p:nvPicPr>
        <p:blipFill>
          <a:blip r:embed="rId4"/>
          <a:stretch>
            <a:fillRect/>
          </a:stretch>
        </p:blipFill>
        <p:spPr>
          <a:xfrm>
            <a:off x="1122883" y="4387291"/>
            <a:ext cx="351130" cy="351130"/>
          </a:xfrm>
          <a:prstGeom prst="rect">
            <a:avLst/>
          </a:prstGeom>
        </p:spPr>
      </p:pic>
      <p:sp>
        <p:nvSpPr>
          <p:cNvPr id="24" name="Text 18"/>
          <p:cNvSpPr/>
          <p:nvPr/>
        </p:nvSpPr>
        <p:spPr>
          <a:xfrm>
            <a:off x="1783080" y="4215384"/>
            <a:ext cx="2286000" cy="685800"/>
          </a:xfrm>
          <a:prstGeom prst="rect">
            <a:avLst/>
          </a:prstGeom>
          <a:noFill/>
          <a:ln/>
        </p:spPr>
        <p:txBody>
          <a:bodyPr wrap="square" rtlCol="0" anchor="t"/>
          <a:lstStyle/>
          <a:p>
            <a:pPr algn="l" indent="0" marL="0">
              <a:buNone/>
            </a:pPr>
            <a:r>
              <a:rPr lang="en-US" sz="1450" b="1" dirty="0">
                <a:solidFill>
                  <a:srgbClr val="0F766E"/>
                </a:solidFill>
                <a:latin typeface="Cambria" pitchFamily="34" charset="0"/>
                <a:ea typeface="Cambria" pitchFamily="34" charset="-122"/>
                <a:cs typeface="Cambria" pitchFamily="34" charset="-120"/>
              </a:rPr>
              <a:t>Digital library</a:t>
            </a:r>
            <a:endParaRPr lang="en-US" sz="1450" dirty="0"/>
          </a:p>
        </p:txBody>
      </p:sp>
      <p:sp>
        <p:nvSpPr>
          <p:cNvPr id="25" name="Text 19"/>
          <p:cNvSpPr/>
          <p:nvPr/>
        </p:nvSpPr>
        <p:spPr>
          <a:xfrm>
            <a:off x="932688" y="5001768"/>
            <a:ext cx="3063240" cy="731520"/>
          </a:xfrm>
          <a:prstGeom prst="rect">
            <a:avLst/>
          </a:prstGeom>
          <a:noFill/>
          <a:ln/>
        </p:spPr>
        <p:txBody>
          <a:bodyPr wrap="square" rtlCol="0" anchor="t"/>
          <a:lstStyle/>
          <a:p>
            <a:pPr algn="l" indent="0" marL="0">
              <a:lnSpc>
                <a:spcPct val="103000"/>
              </a:lnSpc>
              <a:buNone/>
            </a:pPr>
            <a:r>
              <a:rPr lang="en-US" sz="1200" dirty="0">
                <a:solidFill>
                  <a:srgbClr val="475569"/>
                </a:solidFill>
                <a:latin typeface="Calibri" pitchFamily="34" charset="0"/>
                <a:ea typeface="Calibri" pitchFamily="34" charset="-122"/>
                <a:cs typeface="Calibri" pitchFamily="34" charset="-120"/>
              </a:rPr>
              <a:t>Selected titles read and downloaded on screen.</a:t>
            </a:r>
            <a:endParaRPr lang="en-US" sz="1200" dirty="0"/>
          </a:p>
        </p:txBody>
      </p:sp>
      <p:sp>
        <p:nvSpPr>
          <p:cNvPr id="26" name="Shape 20"/>
          <p:cNvSpPr/>
          <p:nvPr/>
        </p:nvSpPr>
        <p:spPr>
          <a:xfrm>
            <a:off x="4507992" y="3904488"/>
            <a:ext cx="3611880" cy="1920240"/>
          </a:xfrm>
          <a:prstGeom prst="roundRect">
            <a:avLst>
              <a:gd name="adj" fmla="val 3333"/>
            </a:avLst>
          </a:prstGeom>
          <a:solidFill>
            <a:srgbClr val="F0FDFA"/>
          </a:solidFill>
          <a:ln/>
          <a:effectLst>
            <a:outerShdw sx="100000" sy="100000" kx="0" ky="0" algn="bl" rotWithShape="0" blurRad="114300" dist="38100" dir="5400000">
              <a:srgbClr val="1E293B">
                <a:alpha val="16000"/>
              </a:srgbClr>
            </a:outerShdw>
          </a:effectLst>
        </p:spPr>
      </p:sp>
      <p:sp>
        <p:nvSpPr>
          <p:cNvPr id="27" name="Shape 21"/>
          <p:cNvSpPr/>
          <p:nvPr/>
        </p:nvSpPr>
        <p:spPr>
          <a:xfrm>
            <a:off x="4800600" y="4197096"/>
            <a:ext cx="731520" cy="73152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8" name="Image 4" descr="preencoded.png">    </p:cNvPr>
          <p:cNvPicPr>
            <a:picLocks noChangeAspect="1"/>
          </p:cNvPicPr>
          <p:nvPr/>
        </p:nvPicPr>
        <p:blipFill>
          <a:blip r:embed="rId5"/>
          <a:stretch>
            <a:fillRect/>
          </a:stretch>
        </p:blipFill>
        <p:spPr>
          <a:xfrm>
            <a:off x="4990795" y="4387291"/>
            <a:ext cx="351130" cy="351130"/>
          </a:xfrm>
          <a:prstGeom prst="rect">
            <a:avLst/>
          </a:prstGeom>
        </p:spPr>
      </p:pic>
      <p:sp>
        <p:nvSpPr>
          <p:cNvPr id="29" name="Text 22"/>
          <p:cNvSpPr/>
          <p:nvPr/>
        </p:nvSpPr>
        <p:spPr>
          <a:xfrm>
            <a:off x="5650992" y="4215384"/>
            <a:ext cx="2286000" cy="685800"/>
          </a:xfrm>
          <a:prstGeom prst="rect">
            <a:avLst/>
          </a:prstGeom>
          <a:noFill/>
          <a:ln/>
        </p:spPr>
        <p:txBody>
          <a:bodyPr wrap="square" rtlCol="0" anchor="t"/>
          <a:lstStyle/>
          <a:p>
            <a:pPr algn="l" indent="0" marL="0">
              <a:buNone/>
            </a:pPr>
            <a:r>
              <a:rPr lang="en-US" sz="1450" b="1" dirty="0">
                <a:solidFill>
                  <a:srgbClr val="0F766E"/>
                </a:solidFill>
                <a:latin typeface="Cambria" pitchFamily="34" charset="0"/>
                <a:ea typeface="Cambria" pitchFamily="34" charset="-122"/>
                <a:cs typeface="Cambria" pitchFamily="34" charset="-120"/>
              </a:rPr>
              <a:t>Automated alerts</a:t>
            </a:r>
            <a:endParaRPr lang="en-US" sz="1450" dirty="0"/>
          </a:p>
        </p:txBody>
      </p:sp>
      <p:sp>
        <p:nvSpPr>
          <p:cNvPr id="30" name="Text 23"/>
          <p:cNvSpPr/>
          <p:nvPr/>
        </p:nvSpPr>
        <p:spPr>
          <a:xfrm>
            <a:off x="4800600" y="5001768"/>
            <a:ext cx="3063240" cy="731520"/>
          </a:xfrm>
          <a:prstGeom prst="rect">
            <a:avLst/>
          </a:prstGeom>
          <a:noFill/>
          <a:ln/>
        </p:spPr>
        <p:txBody>
          <a:bodyPr wrap="square" rtlCol="0" anchor="t"/>
          <a:lstStyle/>
          <a:p>
            <a:pPr algn="l" indent="0" marL="0">
              <a:lnSpc>
                <a:spcPct val="103000"/>
              </a:lnSpc>
              <a:buNone/>
            </a:pPr>
            <a:r>
              <a:rPr lang="en-US" sz="1200" dirty="0">
                <a:solidFill>
                  <a:srgbClr val="475569"/>
                </a:solidFill>
                <a:latin typeface="Calibri" pitchFamily="34" charset="0"/>
                <a:ea typeface="Calibri" pitchFamily="34" charset="-122"/>
                <a:cs typeface="Calibri" pitchFamily="34" charset="-120"/>
              </a:rPr>
              <a:t>Due dates, overdue items and ready reservations.</a:t>
            </a:r>
            <a:endParaRPr lang="en-US" sz="1200" dirty="0"/>
          </a:p>
        </p:txBody>
      </p:sp>
      <p:sp>
        <p:nvSpPr>
          <p:cNvPr id="31" name="Shape 24"/>
          <p:cNvSpPr/>
          <p:nvPr/>
        </p:nvSpPr>
        <p:spPr>
          <a:xfrm>
            <a:off x="8375904" y="3904488"/>
            <a:ext cx="3611880" cy="1920240"/>
          </a:xfrm>
          <a:prstGeom prst="roundRect">
            <a:avLst>
              <a:gd name="adj" fmla="val 3333"/>
            </a:avLst>
          </a:prstGeom>
          <a:solidFill>
            <a:srgbClr val="F0FDFA"/>
          </a:solidFill>
          <a:ln/>
          <a:effectLst>
            <a:outerShdw sx="100000" sy="100000" kx="0" ky="0" algn="bl" rotWithShape="0" blurRad="114300" dist="38100" dir="5400000">
              <a:srgbClr val="1E293B">
                <a:alpha val="16000"/>
              </a:srgbClr>
            </a:outerShdw>
          </a:effectLst>
        </p:spPr>
      </p:sp>
      <p:sp>
        <p:nvSpPr>
          <p:cNvPr id="32" name="Shape 25"/>
          <p:cNvSpPr/>
          <p:nvPr/>
        </p:nvSpPr>
        <p:spPr>
          <a:xfrm>
            <a:off x="8668512" y="4197096"/>
            <a:ext cx="731520" cy="73152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33" name="Image 5" descr="preencoded.png">    </p:cNvPr>
          <p:cNvPicPr>
            <a:picLocks noChangeAspect="1"/>
          </p:cNvPicPr>
          <p:nvPr/>
        </p:nvPicPr>
        <p:blipFill>
          <a:blip r:embed="rId6"/>
          <a:stretch>
            <a:fillRect/>
          </a:stretch>
        </p:blipFill>
        <p:spPr>
          <a:xfrm>
            <a:off x="8858707" y="4387291"/>
            <a:ext cx="351130" cy="351130"/>
          </a:xfrm>
          <a:prstGeom prst="rect">
            <a:avLst/>
          </a:prstGeom>
        </p:spPr>
      </p:pic>
      <p:sp>
        <p:nvSpPr>
          <p:cNvPr id="34" name="Text 26"/>
          <p:cNvSpPr/>
          <p:nvPr/>
        </p:nvSpPr>
        <p:spPr>
          <a:xfrm>
            <a:off x="9518904" y="4215384"/>
            <a:ext cx="2286000" cy="685800"/>
          </a:xfrm>
          <a:prstGeom prst="rect">
            <a:avLst/>
          </a:prstGeom>
          <a:noFill/>
          <a:ln/>
        </p:spPr>
        <p:txBody>
          <a:bodyPr wrap="square" rtlCol="0" anchor="t"/>
          <a:lstStyle/>
          <a:p>
            <a:pPr algn="l" indent="0" marL="0">
              <a:buNone/>
            </a:pPr>
            <a:r>
              <a:rPr lang="en-US" sz="1450" b="1" dirty="0">
                <a:solidFill>
                  <a:srgbClr val="0F766E"/>
                </a:solidFill>
                <a:latin typeface="Cambria" pitchFamily="34" charset="0"/>
                <a:ea typeface="Cambria" pitchFamily="34" charset="-122"/>
                <a:cs typeface="Cambria" pitchFamily="34" charset="-120"/>
              </a:rPr>
              <a:t>Analytical dashboards</a:t>
            </a:r>
            <a:endParaRPr lang="en-US" sz="1450" dirty="0"/>
          </a:p>
        </p:txBody>
      </p:sp>
      <p:sp>
        <p:nvSpPr>
          <p:cNvPr id="35" name="Text 27"/>
          <p:cNvSpPr/>
          <p:nvPr/>
        </p:nvSpPr>
        <p:spPr>
          <a:xfrm>
            <a:off x="8668512" y="5001768"/>
            <a:ext cx="3063240" cy="731520"/>
          </a:xfrm>
          <a:prstGeom prst="rect">
            <a:avLst/>
          </a:prstGeom>
          <a:noFill/>
          <a:ln/>
        </p:spPr>
        <p:txBody>
          <a:bodyPr wrap="square" rtlCol="0" anchor="t"/>
          <a:lstStyle/>
          <a:p>
            <a:pPr algn="l" indent="0" marL="0">
              <a:lnSpc>
                <a:spcPct val="103000"/>
              </a:lnSpc>
              <a:buNone/>
            </a:pPr>
            <a:r>
              <a:rPr lang="en-US" sz="1200" dirty="0">
                <a:solidFill>
                  <a:srgbClr val="475569"/>
                </a:solidFill>
                <a:latin typeface="Calibri" pitchFamily="34" charset="0"/>
                <a:ea typeface="Calibri" pitchFamily="34" charset="-122"/>
                <a:cs typeface="Calibri" pitchFamily="34" charset="-120"/>
              </a:rPr>
              <a:t>Trends, popular titles and top borrowers.</a:t>
            </a:r>
            <a:endParaRPr lang="en-US" sz="1200" dirty="0"/>
          </a:p>
        </p:txBody>
      </p:sp>
      <p:sp>
        <p:nvSpPr>
          <p:cNvPr id="36" name="Text 28"/>
          <p:cNvSpPr/>
          <p:nvPr/>
        </p:nvSpPr>
        <p:spPr>
          <a:xfrm>
            <a:off x="640080" y="6053328"/>
            <a:ext cx="10972800" cy="320040"/>
          </a:xfrm>
          <a:prstGeom prst="rect">
            <a:avLst/>
          </a:prstGeom>
          <a:noFill/>
          <a:ln/>
        </p:spPr>
        <p:txBody>
          <a:bodyPr wrap="square"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Plus light &amp; dark display modes, remembered between sessions.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HOW IT WORKS</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The Core Borrowing Workflow</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8</a:t>
            </a:r>
            <a:endParaRPr lang="en-US" sz="950" dirty="0"/>
          </a:p>
        </p:txBody>
      </p:sp>
      <p:pic>
        <p:nvPicPr>
          <p:cNvPr id="6" name="Image 0" descr="assets/workflow.png">    </p:cNvPr>
          <p:cNvPicPr>
            <a:picLocks noChangeAspect="1"/>
          </p:cNvPicPr>
          <p:nvPr/>
        </p:nvPicPr>
        <p:blipFill>
          <a:blip r:embed="rId1"/>
          <a:stretch>
            <a:fillRect/>
          </a:stretch>
        </p:blipFill>
        <p:spPr>
          <a:xfrm>
            <a:off x="640080" y="2286000"/>
            <a:ext cx="10881360" cy="4019712"/>
          </a:xfrm>
          <a:prstGeom prst="rect">
            <a:avLst/>
          </a:prstGeom>
        </p:spPr>
      </p:pic>
      <p:sp>
        <p:nvSpPr>
          <p:cNvPr id="7" name="Text 4"/>
          <p:cNvSpPr/>
          <p:nvPr/>
        </p:nvSpPr>
        <p:spPr>
          <a:xfrm>
            <a:off x="640080" y="5120640"/>
            <a:ext cx="10881360" cy="640080"/>
          </a:xfrm>
          <a:prstGeom prst="rect">
            <a:avLst/>
          </a:prstGeom>
          <a:noFill/>
          <a:ln/>
        </p:spPr>
        <p:txBody>
          <a:bodyPr wrap="square" rtlCol="0" anchor="ctr"/>
          <a:lstStyle/>
          <a:p>
            <a:pPr algn="ctr" indent="0" marL="0">
              <a:buNone/>
            </a:pPr>
            <a:r>
              <a:rPr lang="en-US" sz="1350" i="1" dirty="0">
                <a:solidFill>
                  <a:srgbClr val="475569"/>
                </a:solidFill>
                <a:latin typeface="Calibri" pitchFamily="34" charset="0"/>
                <a:ea typeface="Calibri" pitchFamily="34" charset="-122"/>
                <a:cs typeface="Calibri" pitchFamily="34" charset="-120"/>
              </a:rPr>
              <a:t>A reservation queue closes the loop: if a title is unavailable, the next member is notified the moment it is returned.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SYSTEM ARCHITECTURE</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A Clean Three-Tier Design</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9</a:t>
            </a:r>
            <a:endParaRPr lang="en-US" sz="950" dirty="0"/>
          </a:p>
        </p:txBody>
      </p:sp>
      <p:pic>
        <p:nvPicPr>
          <p:cNvPr id="6" name="Image 0" descr="assets/architecture.png">    </p:cNvPr>
          <p:cNvPicPr>
            <a:picLocks noChangeAspect="1"/>
          </p:cNvPicPr>
          <p:nvPr/>
        </p:nvPicPr>
        <p:blipFill>
          <a:blip r:embed="rId1"/>
          <a:stretch>
            <a:fillRect/>
          </a:stretch>
        </p:blipFill>
        <p:spPr>
          <a:xfrm>
            <a:off x="640080" y="1828800"/>
            <a:ext cx="6766560" cy="3886594"/>
          </a:xfrm>
          <a:prstGeom prst="rect">
            <a:avLst/>
          </a:prstGeom>
        </p:spPr>
      </p:pic>
      <p:sp>
        <p:nvSpPr>
          <p:cNvPr id="7" name="Shape 4"/>
          <p:cNvSpPr/>
          <p:nvPr/>
        </p:nvSpPr>
        <p:spPr>
          <a:xfrm>
            <a:off x="7818120" y="1828800"/>
            <a:ext cx="3703320" cy="1188720"/>
          </a:xfrm>
          <a:prstGeom prst="roundRect">
            <a:avLst>
              <a:gd name="adj" fmla="val 6154"/>
            </a:avLst>
          </a:prstGeom>
          <a:solidFill>
            <a:srgbClr val="F1F5F9"/>
          </a:solidFill>
          <a:ln/>
          <a:effectLst>
            <a:outerShdw sx="100000" sy="100000" kx="0" ky="0" algn="bl" rotWithShape="0" blurRad="114300" dist="38100" dir="5400000">
              <a:srgbClr val="1E293B">
                <a:alpha val="16000"/>
              </a:srgbClr>
            </a:outerShdw>
          </a:effectLst>
        </p:spPr>
      </p:sp>
      <p:sp>
        <p:nvSpPr>
          <p:cNvPr id="8" name="Shape 5"/>
          <p:cNvSpPr/>
          <p:nvPr/>
        </p:nvSpPr>
        <p:spPr>
          <a:xfrm>
            <a:off x="8074152" y="2148840"/>
            <a:ext cx="548640" cy="548640"/>
          </a:xfrm>
          <a:prstGeom prst="ellipse">
            <a:avLst/>
          </a:prstGeom>
          <a:solidFill>
            <a:srgbClr val="0F766E"/>
          </a:solidFill>
          <a:ln/>
        </p:spPr>
      </p:sp>
      <p:pic>
        <p:nvPicPr>
          <p:cNvPr id="9" name="Image 1" descr="preencoded.png">    </p:cNvPr>
          <p:cNvPicPr>
            <a:picLocks noChangeAspect="1"/>
          </p:cNvPicPr>
          <p:nvPr/>
        </p:nvPicPr>
        <p:blipFill>
          <a:blip r:embed="rId2"/>
          <a:stretch>
            <a:fillRect/>
          </a:stretch>
        </p:blipFill>
        <p:spPr>
          <a:xfrm>
            <a:off x="8220456" y="2295144"/>
            <a:ext cx="256032" cy="256032"/>
          </a:xfrm>
          <a:prstGeom prst="rect">
            <a:avLst/>
          </a:prstGeom>
        </p:spPr>
      </p:pic>
      <p:sp>
        <p:nvSpPr>
          <p:cNvPr id="10" name="Text 6"/>
          <p:cNvSpPr/>
          <p:nvPr/>
        </p:nvSpPr>
        <p:spPr>
          <a:xfrm>
            <a:off x="8778240" y="1993392"/>
            <a:ext cx="2606040" cy="365760"/>
          </a:xfrm>
          <a:prstGeom prst="rect">
            <a:avLst/>
          </a:prstGeom>
          <a:noFill/>
          <a:ln/>
        </p:spPr>
        <p:txBody>
          <a:bodyPr wrap="square" rtlCol="0" anchor="ctr"/>
          <a:lstStyle/>
          <a:p>
            <a:pPr algn="l" indent="0" marL="0">
              <a:buNone/>
            </a:pPr>
            <a:r>
              <a:rPr lang="en-US" sz="1550" b="1" dirty="0">
                <a:solidFill>
                  <a:srgbClr val="12233B"/>
                </a:solidFill>
                <a:latin typeface="Cambria" pitchFamily="34" charset="0"/>
                <a:ea typeface="Cambria" pitchFamily="34" charset="-122"/>
                <a:cs typeface="Cambria" pitchFamily="34" charset="-120"/>
              </a:rPr>
              <a:t>Presentation</a:t>
            </a:r>
            <a:endParaRPr lang="en-US" sz="1550" dirty="0"/>
          </a:p>
        </p:txBody>
      </p:sp>
      <p:sp>
        <p:nvSpPr>
          <p:cNvPr id="11" name="Text 7"/>
          <p:cNvSpPr/>
          <p:nvPr/>
        </p:nvSpPr>
        <p:spPr>
          <a:xfrm>
            <a:off x="8778240" y="2359152"/>
            <a:ext cx="2560320" cy="548640"/>
          </a:xfrm>
          <a:prstGeom prst="rect">
            <a:avLst/>
          </a:prstGeom>
          <a:noFill/>
          <a:ln/>
        </p:spPr>
        <p:txBody>
          <a:bodyPr wrap="square" rtlCol="0" anchor="ctr"/>
          <a:lstStyle/>
          <a:p>
            <a:pPr algn="l" indent="0" marL="0">
              <a:lnSpc>
                <a:spcPct val="102000"/>
              </a:lnSpc>
              <a:buNone/>
            </a:pPr>
            <a:r>
              <a:rPr lang="en-US" sz="1150" dirty="0">
                <a:solidFill>
                  <a:srgbClr val="475569"/>
                </a:solidFill>
                <a:latin typeface="Calibri" pitchFamily="34" charset="0"/>
                <a:ea typeface="Calibri" pitchFamily="34" charset="-122"/>
                <a:cs typeface="Calibri" pitchFamily="34" charset="-120"/>
              </a:rPr>
              <a:t>What the user sees — HTML, CSS and JavaScript.</a:t>
            </a:r>
            <a:endParaRPr lang="en-US" sz="1150" dirty="0"/>
          </a:p>
        </p:txBody>
      </p:sp>
      <p:sp>
        <p:nvSpPr>
          <p:cNvPr id="12" name="Shape 8"/>
          <p:cNvSpPr/>
          <p:nvPr/>
        </p:nvSpPr>
        <p:spPr>
          <a:xfrm>
            <a:off x="7818120" y="3200400"/>
            <a:ext cx="3703320" cy="1188720"/>
          </a:xfrm>
          <a:prstGeom prst="roundRect">
            <a:avLst>
              <a:gd name="adj" fmla="val 6154"/>
            </a:avLst>
          </a:prstGeom>
          <a:solidFill>
            <a:srgbClr val="F1F5F9"/>
          </a:solidFill>
          <a:ln/>
          <a:effectLst>
            <a:outerShdw sx="100000" sy="100000" kx="0" ky="0" algn="bl" rotWithShape="0" blurRad="114300" dist="38100" dir="5400000">
              <a:srgbClr val="1E293B">
                <a:alpha val="16000"/>
              </a:srgbClr>
            </a:outerShdw>
          </a:effectLst>
        </p:spPr>
      </p:sp>
      <p:sp>
        <p:nvSpPr>
          <p:cNvPr id="13" name="Shape 9"/>
          <p:cNvSpPr/>
          <p:nvPr/>
        </p:nvSpPr>
        <p:spPr>
          <a:xfrm>
            <a:off x="8074152" y="3520440"/>
            <a:ext cx="548640" cy="548640"/>
          </a:xfrm>
          <a:prstGeom prst="ellipse">
            <a:avLst/>
          </a:prstGeom>
          <a:solidFill>
            <a:srgbClr val="14B8A6"/>
          </a:solidFill>
          <a:ln/>
        </p:spPr>
      </p:sp>
      <p:pic>
        <p:nvPicPr>
          <p:cNvPr id="14" name="Image 2" descr="preencoded.png">    </p:cNvPr>
          <p:cNvPicPr>
            <a:picLocks noChangeAspect="1"/>
          </p:cNvPicPr>
          <p:nvPr/>
        </p:nvPicPr>
        <p:blipFill>
          <a:blip r:embed="rId3"/>
          <a:stretch>
            <a:fillRect/>
          </a:stretch>
        </p:blipFill>
        <p:spPr>
          <a:xfrm>
            <a:off x="8220456" y="3666744"/>
            <a:ext cx="256032" cy="256032"/>
          </a:xfrm>
          <a:prstGeom prst="rect">
            <a:avLst/>
          </a:prstGeom>
        </p:spPr>
      </p:pic>
      <p:sp>
        <p:nvSpPr>
          <p:cNvPr id="15" name="Text 10"/>
          <p:cNvSpPr/>
          <p:nvPr/>
        </p:nvSpPr>
        <p:spPr>
          <a:xfrm>
            <a:off x="8778240" y="3364992"/>
            <a:ext cx="2606040" cy="365760"/>
          </a:xfrm>
          <a:prstGeom prst="rect">
            <a:avLst/>
          </a:prstGeom>
          <a:noFill/>
          <a:ln/>
        </p:spPr>
        <p:txBody>
          <a:bodyPr wrap="square" rtlCol="0" anchor="ctr"/>
          <a:lstStyle/>
          <a:p>
            <a:pPr algn="l" indent="0" marL="0">
              <a:buNone/>
            </a:pPr>
            <a:r>
              <a:rPr lang="en-US" sz="1550" b="1" dirty="0">
                <a:solidFill>
                  <a:srgbClr val="12233B"/>
                </a:solidFill>
                <a:latin typeface="Cambria" pitchFamily="34" charset="0"/>
                <a:ea typeface="Cambria" pitchFamily="34" charset="-122"/>
                <a:cs typeface="Cambria" pitchFamily="34" charset="-120"/>
              </a:rPr>
              <a:t>Application</a:t>
            </a:r>
            <a:endParaRPr lang="en-US" sz="1550" dirty="0"/>
          </a:p>
        </p:txBody>
      </p:sp>
      <p:sp>
        <p:nvSpPr>
          <p:cNvPr id="16" name="Text 11"/>
          <p:cNvSpPr/>
          <p:nvPr/>
        </p:nvSpPr>
        <p:spPr>
          <a:xfrm>
            <a:off x="8778240" y="3730752"/>
            <a:ext cx="2560320" cy="548640"/>
          </a:xfrm>
          <a:prstGeom prst="rect">
            <a:avLst/>
          </a:prstGeom>
          <a:noFill/>
          <a:ln/>
        </p:spPr>
        <p:txBody>
          <a:bodyPr wrap="square" rtlCol="0" anchor="ctr"/>
          <a:lstStyle/>
          <a:p>
            <a:pPr algn="l" indent="0" marL="0">
              <a:lnSpc>
                <a:spcPct val="102000"/>
              </a:lnSpc>
              <a:buNone/>
            </a:pPr>
            <a:r>
              <a:rPr lang="en-US" sz="1150" dirty="0">
                <a:solidFill>
                  <a:srgbClr val="475569"/>
                </a:solidFill>
                <a:latin typeface="Calibri" pitchFamily="34" charset="0"/>
                <a:ea typeface="Calibri" pitchFamily="34" charset="-122"/>
                <a:cs typeface="Calibri" pitchFamily="34" charset="-120"/>
              </a:rPr>
              <a:t>The rules and logic, handled in PHP.</a:t>
            </a:r>
            <a:endParaRPr lang="en-US" sz="1150" dirty="0"/>
          </a:p>
        </p:txBody>
      </p:sp>
      <p:sp>
        <p:nvSpPr>
          <p:cNvPr id="17" name="Shape 12"/>
          <p:cNvSpPr/>
          <p:nvPr/>
        </p:nvSpPr>
        <p:spPr>
          <a:xfrm>
            <a:off x="7818120" y="4572000"/>
            <a:ext cx="3703320" cy="1188720"/>
          </a:xfrm>
          <a:prstGeom prst="roundRect">
            <a:avLst>
              <a:gd name="adj" fmla="val 6154"/>
            </a:avLst>
          </a:prstGeom>
          <a:solidFill>
            <a:srgbClr val="F1F5F9"/>
          </a:solidFill>
          <a:ln/>
          <a:effectLst>
            <a:outerShdw sx="100000" sy="100000" kx="0" ky="0" algn="bl" rotWithShape="0" blurRad="114300" dist="38100" dir="5400000">
              <a:srgbClr val="1E293B">
                <a:alpha val="16000"/>
              </a:srgbClr>
            </a:outerShdw>
          </a:effectLst>
        </p:spPr>
      </p:sp>
      <p:sp>
        <p:nvSpPr>
          <p:cNvPr id="18" name="Shape 13"/>
          <p:cNvSpPr/>
          <p:nvPr/>
        </p:nvSpPr>
        <p:spPr>
          <a:xfrm>
            <a:off x="8074152" y="4892040"/>
            <a:ext cx="548640" cy="548640"/>
          </a:xfrm>
          <a:prstGeom prst="ellipse">
            <a:avLst/>
          </a:prstGeom>
          <a:solidFill>
            <a:srgbClr val="1E293B"/>
          </a:solidFill>
          <a:ln/>
        </p:spPr>
      </p:sp>
      <p:pic>
        <p:nvPicPr>
          <p:cNvPr id="19" name="Image 3" descr="preencoded.png">    </p:cNvPr>
          <p:cNvPicPr>
            <a:picLocks noChangeAspect="1"/>
          </p:cNvPicPr>
          <p:nvPr/>
        </p:nvPicPr>
        <p:blipFill>
          <a:blip r:embed="rId4"/>
          <a:stretch>
            <a:fillRect/>
          </a:stretch>
        </p:blipFill>
        <p:spPr>
          <a:xfrm>
            <a:off x="8220456" y="5038344"/>
            <a:ext cx="256032" cy="256032"/>
          </a:xfrm>
          <a:prstGeom prst="rect">
            <a:avLst/>
          </a:prstGeom>
        </p:spPr>
      </p:pic>
      <p:sp>
        <p:nvSpPr>
          <p:cNvPr id="20" name="Text 14"/>
          <p:cNvSpPr/>
          <p:nvPr/>
        </p:nvSpPr>
        <p:spPr>
          <a:xfrm>
            <a:off x="8778240" y="4736592"/>
            <a:ext cx="2606040" cy="365760"/>
          </a:xfrm>
          <a:prstGeom prst="rect">
            <a:avLst/>
          </a:prstGeom>
          <a:noFill/>
          <a:ln/>
        </p:spPr>
        <p:txBody>
          <a:bodyPr wrap="square" rtlCol="0" anchor="ctr"/>
          <a:lstStyle/>
          <a:p>
            <a:pPr algn="l" indent="0" marL="0">
              <a:buNone/>
            </a:pPr>
            <a:r>
              <a:rPr lang="en-US" sz="1550" b="1" dirty="0">
                <a:solidFill>
                  <a:srgbClr val="12233B"/>
                </a:solidFill>
                <a:latin typeface="Cambria" pitchFamily="34" charset="0"/>
                <a:ea typeface="Cambria" pitchFamily="34" charset="-122"/>
                <a:cs typeface="Cambria" pitchFamily="34" charset="-120"/>
              </a:rPr>
              <a:t>Data</a:t>
            </a:r>
            <a:endParaRPr lang="en-US" sz="1550" dirty="0"/>
          </a:p>
        </p:txBody>
      </p:sp>
      <p:sp>
        <p:nvSpPr>
          <p:cNvPr id="21" name="Text 15"/>
          <p:cNvSpPr/>
          <p:nvPr/>
        </p:nvSpPr>
        <p:spPr>
          <a:xfrm>
            <a:off x="8778240" y="5102352"/>
            <a:ext cx="2560320" cy="548640"/>
          </a:xfrm>
          <a:prstGeom prst="rect">
            <a:avLst/>
          </a:prstGeom>
          <a:noFill/>
          <a:ln/>
        </p:spPr>
        <p:txBody>
          <a:bodyPr wrap="square" rtlCol="0" anchor="ctr"/>
          <a:lstStyle/>
          <a:p>
            <a:pPr algn="l" indent="0" marL="0">
              <a:lnSpc>
                <a:spcPct val="102000"/>
              </a:lnSpc>
              <a:buNone/>
            </a:pPr>
            <a:r>
              <a:rPr lang="en-US" sz="1150" dirty="0">
                <a:solidFill>
                  <a:srgbClr val="475569"/>
                </a:solidFill>
                <a:latin typeface="Calibri" pitchFamily="34" charset="0"/>
                <a:ea typeface="Calibri" pitchFamily="34" charset="-122"/>
                <a:cs typeface="Calibri" pitchFamily="34" charset="-120"/>
              </a:rPr>
              <a:t>Where everything is stored — MySQL.</a:t>
            </a:r>
            <a:endParaRPr lang="en-US" sz="1150" dirty="0"/>
          </a:p>
        </p:txBody>
      </p:sp>
      <p:sp>
        <p:nvSpPr>
          <p:cNvPr id="22" name="Text 16"/>
          <p:cNvSpPr/>
          <p:nvPr/>
        </p:nvSpPr>
        <p:spPr>
          <a:xfrm>
            <a:off x="7818120" y="5989320"/>
            <a:ext cx="3703320" cy="457200"/>
          </a:xfrm>
          <a:prstGeom prst="rect">
            <a:avLst/>
          </a:prstGeom>
          <a:noFill/>
          <a:ln/>
        </p:spPr>
        <p:txBody>
          <a:bodyPr wrap="square" rtlCol="0" anchor="ctr"/>
          <a:lstStyle/>
          <a:p>
            <a:pPr algn="l" indent="0" marL="0">
              <a:lnSpc>
                <a:spcPct val="105000"/>
              </a:lnSpc>
              <a:buNone/>
            </a:pPr>
            <a:r>
              <a:rPr lang="en-US" sz="1100" i="1" dirty="0">
                <a:solidFill>
                  <a:srgbClr val="475569"/>
                </a:solidFill>
                <a:latin typeface="Calibri" pitchFamily="34" charset="0"/>
                <a:ea typeface="Calibri" pitchFamily="34" charset="-122"/>
                <a:cs typeface="Calibri" pitchFamily="34" charset="-120"/>
              </a:rPr>
              <a:t>Each tier is independent — one can change without disturbing the others.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TECHNOLOGY STACK</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Core Web Technologies — No Frameworks</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10</a:t>
            </a:r>
            <a:endParaRPr lang="en-US" sz="950" dirty="0"/>
          </a:p>
        </p:txBody>
      </p:sp>
      <p:sp>
        <p:nvSpPr>
          <p:cNvPr id="6" name="Shape 4"/>
          <p:cNvSpPr/>
          <p:nvPr/>
        </p:nvSpPr>
        <p:spPr>
          <a:xfrm>
            <a:off x="640080" y="1828800"/>
            <a:ext cx="2084832" cy="2651760"/>
          </a:xfrm>
          <a:prstGeom prst="roundRect">
            <a:avLst>
              <a:gd name="adj" fmla="val 3947"/>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7" name="Shape 5"/>
          <p:cNvSpPr/>
          <p:nvPr/>
        </p:nvSpPr>
        <p:spPr>
          <a:xfrm>
            <a:off x="1115568" y="2194560"/>
            <a:ext cx="1133856" cy="1133856"/>
          </a:xfrm>
          <a:prstGeom prst="ellipse">
            <a:avLst/>
          </a:prstGeom>
          <a:solidFill>
            <a:srgbClr val="F1F5F9"/>
          </a:solidFill>
          <a:ln/>
        </p:spPr>
      </p:sp>
      <p:pic>
        <p:nvPicPr>
          <p:cNvPr id="8" name="Image 0" descr="preencoded.png">    </p:cNvPr>
          <p:cNvPicPr>
            <a:picLocks noChangeAspect="1"/>
          </p:cNvPicPr>
          <p:nvPr/>
        </p:nvPicPr>
        <p:blipFill>
          <a:blip r:embed="rId1"/>
          <a:stretch>
            <a:fillRect/>
          </a:stretch>
        </p:blipFill>
        <p:spPr>
          <a:xfrm>
            <a:off x="1298448" y="2377440"/>
            <a:ext cx="768096" cy="768096"/>
          </a:xfrm>
          <a:prstGeom prst="rect">
            <a:avLst/>
          </a:prstGeom>
        </p:spPr>
      </p:pic>
      <p:sp>
        <p:nvSpPr>
          <p:cNvPr id="9" name="Text 6"/>
          <p:cNvSpPr/>
          <p:nvPr/>
        </p:nvSpPr>
        <p:spPr>
          <a:xfrm>
            <a:off x="640080" y="3429000"/>
            <a:ext cx="2084832" cy="411480"/>
          </a:xfrm>
          <a:prstGeom prst="rect">
            <a:avLst/>
          </a:prstGeom>
          <a:noFill/>
          <a:ln/>
        </p:spPr>
        <p:txBody>
          <a:bodyPr wrap="square" rtlCol="0" anchor="ctr"/>
          <a:lstStyle/>
          <a:p>
            <a:pPr algn="ctr" indent="0" marL="0">
              <a:buNone/>
            </a:pPr>
            <a:r>
              <a:rPr lang="en-US" sz="1800" b="1" dirty="0">
                <a:solidFill>
                  <a:srgbClr val="12233B"/>
                </a:solidFill>
                <a:latin typeface="Cambria" pitchFamily="34" charset="0"/>
                <a:ea typeface="Cambria" pitchFamily="34" charset="-122"/>
                <a:cs typeface="Cambria" pitchFamily="34" charset="-120"/>
              </a:rPr>
              <a:t>HTML5</a:t>
            </a:r>
            <a:endParaRPr lang="en-US" sz="1800" dirty="0"/>
          </a:p>
        </p:txBody>
      </p:sp>
      <p:sp>
        <p:nvSpPr>
          <p:cNvPr id="10" name="Text 7"/>
          <p:cNvSpPr/>
          <p:nvPr/>
        </p:nvSpPr>
        <p:spPr>
          <a:xfrm>
            <a:off x="777240" y="3840480"/>
            <a:ext cx="1810512" cy="548640"/>
          </a:xfrm>
          <a:prstGeom prst="rect">
            <a:avLst/>
          </a:prstGeom>
          <a:noFill/>
          <a:ln/>
        </p:spPr>
        <p:txBody>
          <a:bodyPr wrap="square" rtlCol="0" anchor="ctr"/>
          <a:lstStyle/>
          <a:p>
            <a:pPr algn="ctr" indent="0" marL="0">
              <a:lnSpc>
                <a:spcPct val="100000"/>
              </a:lnSpc>
              <a:buNone/>
            </a:pPr>
            <a:r>
              <a:rPr lang="en-US" sz="1150" dirty="0">
                <a:solidFill>
                  <a:srgbClr val="475569"/>
                </a:solidFill>
                <a:latin typeface="Calibri" pitchFamily="34" charset="0"/>
                <a:ea typeface="Calibri" pitchFamily="34" charset="-122"/>
                <a:cs typeface="Calibri" pitchFamily="34" charset="-120"/>
              </a:rPr>
              <a:t>Structure</a:t>
            </a:r>
            <a:endParaRPr lang="en-US" sz="1150" dirty="0"/>
          </a:p>
        </p:txBody>
      </p:sp>
      <p:sp>
        <p:nvSpPr>
          <p:cNvPr id="11" name="Shape 8"/>
          <p:cNvSpPr/>
          <p:nvPr/>
        </p:nvSpPr>
        <p:spPr>
          <a:xfrm>
            <a:off x="2862072" y="1828800"/>
            <a:ext cx="2084832" cy="2651760"/>
          </a:xfrm>
          <a:prstGeom prst="roundRect">
            <a:avLst>
              <a:gd name="adj" fmla="val 3947"/>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12" name="Shape 9"/>
          <p:cNvSpPr/>
          <p:nvPr/>
        </p:nvSpPr>
        <p:spPr>
          <a:xfrm>
            <a:off x="3337560" y="2194560"/>
            <a:ext cx="1133856" cy="1133856"/>
          </a:xfrm>
          <a:prstGeom prst="ellipse">
            <a:avLst/>
          </a:prstGeom>
          <a:solidFill>
            <a:srgbClr val="F1F5F9"/>
          </a:solidFill>
          <a:ln/>
        </p:spPr>
      </p:sp>
      <p:pic>
        <p:nvPicPr>
          <p:cNvPr id="13" name="Image 1" descr="preencoded.png">    </p:cNvPr>
          <p:cNvPicPr>
            <a:picLocks noChangeAspect="1"/>
          </p:cNvPicPr>
          <p:nvPr/>
        </p:nvPicPr>
        <p:blipFill>
          <a:blip r:embed="rId2"/>
          <a:stretch>
            <a:fillRect/>
          </a:stretch>
        </p:blipFill>
        <p:spPr>
          <a:xfrm>
            <a:off x="3520440" y="2377440"/>
            <a:ext cx="768096" cy="768096"/>
          </a:xfrm>
          <a:prstGeom prst="rect">
            <a:avLst/>
          </a:prstGeom>
        </p:spPr>
      </p:pic>
      <p:sp>
        <p:nvSpPr>
          <p:cNvPr id="14" name="Text 10"/>
          <p:cNvSpPr/>
          <p:nvPr/>
        </p:nvSpPr>
        <p:spPr>
          <a:xfrm>
            <a:off x="2862072" y="3429000"/>
            <a:ext cx="2084832" cy="411480"/>
          </a:xfrm>
          <a:prstGeom prst="rect">
            <a:avLst/>
          </a:prstGeom>
          <a:noFill/>
          <a:ln/>
        </p:spPr>
        <p:txBody>
          <a:bodyPr wrap="square" rtlCol="0" anchor="ctr"/>
          <a:lstStyle/>
          <a:p>
            <a:pPr algn="ctr" indent="0" marL="0">
              <a:buNone/>
            </a:pPr>
            <a:r>
              <a:rPr lang="en-US" sz="1800" b="1" dirty="0">
                <a:solidFill>
                  <a:srgbClr val="12233B"/>
                </a:solidFill>
                <a:latin typeface="Cambria" pitchFamily="34" charset="0"/>
                <a:ea typeface="Cambria" pitchFamily="34" charset="-122"/>
                <a:cs typeface="Cambria" pitchFamily="34" charset="-120"/>
              </a:rPr>
              <a:t>CSS3</a:t>
            </a:r>
            <a:endParaRPr lang="en-US" sz="1800" dirty="0"/>
          </a:p>
        </p:txBody>
      </p:sp>
      <p:sp>
        <p:nvSpPr>
          <p:cNvPr id="15" name="Text 11"/>
          <p:cNvSpPr/>
          <p:nvPr/>
        </p:nvSpPr>
        <p:spPr>
          <a:xfrm>
            <a:off x="2999232" y="3840480"/>
            <a:ext cx="1810512" cy="548640"/>
          </a:xfrm>
          <a:prstGeom prst="rect">
            <a:avLst/>
          </a:prstGeom>
          <a:noFill/>
          <a:ln/>
        </p:spPr>
        <p:txBody>
          <a:bodyPr wrap="square" rtlCol="0" anchor="ctr"/>
          <a:lstStyle/>
          <a:p>
            <a:pPr algn="ctr" indent="0" marL="0">
              <a:lnSpc>
                <a:spcPct val="100000"/>
              </a:lnSpc>
              <a:buNone/>
            </a:pPr>
            <a:r>
              <a:rPr lang="en-US" sz="1150" dirty="0">
                <a:solidFill>
                  <a:srgbClr val="475569"/>
                </a:solidFill>
                <a:latin typeface="Calibri" pitchFamily="34" charset="0"/>
                <a:ea typeface="Calibri" pitchFamily="34" charset="-122"/>
                <a:cs typeface="Calibri" pitchFamily="34" charset="-120"/>
              </a:rPr>
              <a:t>Design system · themes</a:t>
            </a:r>
            <a:endParaRPr lang="en-US" sz="1150" dirty="0"/>
          </a:p>
        </p:txBody>
      </p:sp>
      <p:sp>
        <p:nvSpPr>
          <p:cNvPr id="16" name="Shape 12"/>
          <p:cNvSpPr/>
          <p:nvPr/>
        </p:nvSpPr>
        <p:spPr>
          <a:xfrm>
            <a:off x="5084064" y="1828800"/>
            <a:ext cx="2084832" cy="2651760"/>
          </a:xfrm>
          <a:prstGeom prst="roundRect">
            <a:avLst>
              <a:gd name="adj" fmla="val 3947"/>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17" name="Shape 13"/>
          <p:cNvSpPr/>
          <p:nvPr/>
        </p:nvSpPr>
        <p:spPr>
          <a:xfrm>
            <a:off x="5559552" y="2194560"/>
            <a:ext cx="1133856" cy="1133856"/>
          </a:xfrm>
          <a:prstGeom prst="ellipse">
            <a:avLst/>
          </a:prstGeom>
          <a:solidFill>
            <a:srgbClr val="F1F5F9"/>
          </a:solidFill>
          <a:ln/>
        </p:spPr>
      </p:sp>
      <p:pic>
        <p:nvPicPr>
          <p:cNvPr id="18" name="Image 2" descr="preencoded.png">    </p:cNvPr>
          <p:cNvPicPr>
            <a:picLocks noChangeAspect="1"/>
          </p:cNvPicPr>
          <p:nvPr/>
        </p:nvPicPr>
        <p:blipFill>
          <a:blip r:embed="rId3"/>
          <a:stretch>
            <a:fillRect/>
          </a:stretch>
        </p:blipFill>
        <p:spPr>
          <a:xfrm>
            <a:off x="5742432" y="2377440"/>
            <a:ext cx="768096" cy="768096"/>
          </a:xfrm>
          <a:prstGeom prst="rect">
            <a:avLst/>
          </a:prstGeom>
        </p:spPr>
      </p:pic>
      <p:sp>
        <p:nvSpPr>
          <p:cNvPr id="19" name="Text 14"/>
          <p:cNvSpPr/>
          <p:nvPr/>
        </p:nvSpPr>
        <p:spPr>
          <a:xfrm>
            <a:off x="5084064" y="3429000"/>
            <a:ext cx="2084832" cy="411480"/>
          </a:xfrm>
          <a:prstGeom prst="rect">
            <a:avLst/>
          </a:prstGeom>
          <a:noFill/>
          <a:ln/>
        </p:spPr>
        <p:txBody>
          <a:bodyPr wrap="square" rtlCol="0" anchor="ctr"/>
          <a:lstStyle/>
          <a:p>
            <a:pPr algn="ctr" indent="0" marL="0">
              <a:buNone/>
            </a:pPr>
            <a:r>
              <a:rPr lang="en-US" sz="1800" b="1" dirty="0">
                <a:solidFill>
                  <a:srgbClr val="12233B"/>
                </a:solidFill>
                <a:latin typeface="Cambria" pitchFamily="34" charset="0"/>
                <a:ea typeface="Cambria" pitchFamily="34" charset="-122"/>
                <a:cs typeface="Cambria" pitchFamily="34" charset="-120"/>
              </a:rPr>
              <a:t>JavaScript</a:t>
            </a:r>
            <a:endParaRPr lang="en-US" sz="1800" dirty="0"/>
          </a:p>
        </p:txBody>
      </p:sp>
      <p:sp>
        <p:nvSpPr>
          <p:cNvPr id="20" name="Text 15"/>
          <p:cNvSpPr/>
          <p:nvPr/>
        </p:nvSpPr>
        <p:spPr>
          <a:xfrm>
            <a:off x="5221224" y="3840480"/>
            <a:ext cx="1810512" cy="548640"/>
          </a:xfrm>
          <a:prstGeom prst="rect">
            <a:avLst/>
          </a:prstGeom>
          <a:noFill/>
          <a:ln/>
        </p:spPr>
        <p:txBody>
          <a:bodyPr wrap="square" rtlCol="0" anchor="ctr"/>
          <a:lstStyle/>
          <a:p>
            <a:pPr algn="ctr" indent="0" marL="0">
              <a:lnSpc>
                <a:spcPct val="100000"/>
              </a:lnSpc>
              <a:buNone/>
            </a:pPr>
            <a:r>
              <a:rPr lang="en-US" sz="1150" dirty="0">
                <a:solidFill>
                  <a:srgbClr val="475569"/>
                </a:solidFill>
                <a:latin typeface="Calibri" pitchFamily="34" charset="0"/>
                <a:ea typeface="Calibri" pitchFamily="34" charset="-122"/>
                <a:cs typeface="Calibri" pitchFamily="34" charset="-120"/>
              </a:rPr>
              <a:t>Client logic (vanilla)</a:t>
            </a:r>
            <a:endParaRPr lang="en-US" sz="1150" dirty="0"/>
          </a:p>
        </p:txBody>
      </p:sp>
      <p:sp>
        <p:nvSpPr>
          <p:cNvPr id="21" name="Shape 16"/>
          <p:cNvSpPr/>
          <p:nvPr/>
        </p:nvSpPr>
        <p:spPr>
          <a:xfrm>
            <a:off x="7306056" y="1828800"/>
            <a:ext cx="2084832" cy="2651760"/>
          </a:xfrm>
          <a:prstGeom prst="roundRect">
            <a:avLst>
              <a:gd name="adj" fmla="val 3947"/>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22" name="Shape 17"/>
          <p:cNvSpPr/>
          <p:nvPr/>
        </p:nvSpPr>
        <p:spPr>
          <a:xfrm>
            <a:off x="7781544" y="2194560"/>
            <a:ext cx="1133856" cy="1133856"/>
          </a:xfrm>
          <a:prstGeom prst="ellipse">
            <a:avLst/>
          </a:prstGeom>
          <a:solidFill>
            <a:srgbClr val="F1F5F9"/>
          </a:solidFill>
          <a:ln/>
        </p:spPr>
      </p:sp>
      <p:pic>
        <p:nvPicPr>
          <p:cNvPr id="23" name="Image 3" descr="preencoded.png">    </p:cNvPr>
          <p:cNvPicPr>
            <a:picLocks noChangeAspect="1"/>
          </p:cNvPicPr>
          <p:nvPr/>
        </p:nvPicPr>
        <p:blipFill>
          <a:blip r:embed="rId4"/>
          <a:stretch>
            <a:fillRect/>
          </a:stretch>
        </p:blipFill>
        <p:spPr>
          <a:xfrm>
            <a:off x="7964424" y="2377440"/>
            <a:ext cx="768096" cy="768096"/>
          </a:xfrm>
          <a:prstGeom prst="rect">
            <a:avLst/>
          </a:prstGeom>
        </p:spPr>
      </p:pic>
      <p:sp>
        <p:nvSpPr>
          <p:cNvPr id="24" name="Text 18"/>
          <p:cNvSpPr/>
          <p:nvPr/>
        </p:nvSpPr>
        <p:spPr>
          <a:xfrm>
            <a:off x="7306056" y="3429000"/>
            <a:ext cx="2084832" cy="411480"/>
          </a:xfrm>
          <a:prstGeom prst="rect">
            <a:avLst/>
          </a:prstGeom>
          <a:noFill/>
          <a:ln/>
        </p:spPr>
        <p:txBody>
          <a:bodyPr wrap="square" rtlCol="0" anchor="ctr"/>
          <a:lstStyle/>
          <a:p>
            <a:pPr algn="ctr" indent="0" marL="0">
              <a:buNone/>
            </a:pPr>
            <a:r>
              <a:rPr lang="en-US" sz="1800" b="1" dirty="0">
                <a:solidFill>
                  <a:srgbClr val="12233B"/>
                </a:solidFill>
                <a:latin typeface="Cambria" pitchFamily="34" charset="0"/>
                <a:ea typeface="Cambria" pitchFamily="34" charset="-122"/>
                <a:cs typeface="Cambria" pitchFamily="34" charset="-120"/>
              </a:rPr>
              <a:t>PHP</a:t>
            </a:r>
            <a:endParaRPr lang="en-US" sz="1800" dirty="0"/>
          </a:p>
        </p:txBody>
      </p:sp>
      <p:sp>
        <p:nvSpPr>
          <p:cNvPr id="25" name="Text 19"/>
          <p:cNvSpPr/>
          <p:nvPr/>
        </p:nvSpPr>
        <p:spPr>
          <a:xfrm>
            <a:off x="7443216" y="3840480"/>
            <a:ext cx="1810512" cy="548640"/>
          </a:xfrm>
          <a:prstGeom prst="rect">
            <a:avLst/>
          </a:prstGeom>
          <a:noFill/>
          <a:ln/>
        </p:spPr>
        <p:txBody>
          <a:bodyPr wrap="square" rtlCol="0" anchor="ctr"/>
          <a:lstStyle/>
          <a:p>
            <a:pPr algn="ctr" indent="0" marL="0">
              <a:lnSpc>
                <a:spcPct val="100000"/>
              </a:lnSpc>
              <a:buNone/>
            </a:pPr>
            <a:r>
              <a:rPr lang="en-US" sz="1150" dirty="0">
                <a:solidFill>
                  <a:srgbClr val="475569"/>
                </a:solidFill>
                <a:latin typeface="Calibri" pitchFamily="34" charset="0"/>
                <a:ea typeface="Calibri" pitchFamily="34" charset="-122"/>
                <a:cs typeface="Calibri" pitchFamily="34" charset="-120"/>
              </a:rPr>
              <a:t>Server logic</a:t>
            </a:r>
            <a:endParaRPr lang="en-US" sz="1150" dirty="0"/>
          </a:p>
        </p:txBody>
      </p:sp>
      <p:sp>
        <p:nvSpPr>
          <p:cNvPr id="26" name="Shape 20"/>
          <p:cNvSpPr/>
          <p:nvPr/>
        </p:nvSpPr>
        <p:spPr>
          <a:xfrm>
            <a:off x="9528048" y="1828800"/>
            <a:ext cx="2084832" cy="2651760"/>
          </a:xfrm>
          <a:prstGeom prst="roundRect">
            <a:avLst>
              <a:gd name="adj" fmla="val 3947"/>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27" name="Shape 21"/>
          <p:cNvSpPr/>
          <p:nvPr/>
        </p:nvSpPr>
        <p:spPr>
          <a:xfrm>
            <a:off x="10003536" y="2194560"/>
            <a:ext cx="1133856" cy="1133856"/>
          </a:xfrm>
          <a:prstGeom prst="ellipse">
            <a:avLst/>
          </a:prstGeom>
          <a:solidFill>
            <a:srgbClr val="F1F5F9"/>
          </a:solidFill>
          <a:ln/>
        </p:spPr>
      </p:sp>
      <p:pic>
        <p:nvPicPr>
          <p:cNvPr id="28" name="Image 4" descr="preencoded.png">    </p:cNvPr>
          <p:cNvPicPr>
            <a:picLocks noChangeAspect="1"/>
          </p:cNvPicPr>
          <p:nvPr/>
        </p:nvPicPr>
        <p:blipFill>
          <a:blip r:embed="rId5"/>
          <a:stretch>
            <a:fillRect/>
          </a:stretch>
        </p:blipFill>
        <p:spPr>
          <a:xfrm>
            <a:off x="10186416" y="2377440"/>
            <a:ext cx="768096" cy="768096"/>
          </a:xfrm>
          <a:prstGeom prst="rect">
            <a:avLst/>
          </a:prstGeom>
        </p:spPr>
      </p:pic>
      <p:sp>
        <p:nvSpPr>
          <p:cNvPr id="29" name="Text 22"/>
          <p:cNvSpPr/>
          <p:nvPr/>
        </p:nvSpPr>
        <p:spPr>
          <a:xfrm>
            <a:off x="9528048" y="3429000"/>
            <a:ext cx="2084832" cy="411480"/>
          </a:xfrm>
          <a:prstGeom prst="rect">
            <a:avLst/>
          </a:prstGeom>
          <a:noFill/>
          <a:ln/>
        </p:spPr>
        <p:txBody>
          <a:bodyPr wrap="square" rtlCol="0" anchor="ctr"/>
          <a:lstStyle/>
          <a:p>
            <a:pPr algn="ctr" indent="0" marL="0">
              <a:buNone/>
            </a:pPr>
            <a:r>
              <a:rPr lang="en-US" sz="1800" b="1" dirty="0">
                <a:solidFill>
                  <a:srgbClr val="12233B"/>
                </a:solidFill>
                <a:latin typeface="Cambria" pitchFamily="34" charset="0"/>
                <a:ea typeface="Cambria" pitchFamily="34" charset="-122"/>
                <a:cs typeface="Cambria" pitchFamily="34" charset="-120"/>
              </a:rPr>
              <a:t>MySQL</a:t>
            </a:r>
            <a:endParaRPr lang="en-US" sz="1800" dirty="0"/>
          </a:p>
        </p:txBody>
      </p:sp>
      <p:sp>
        <p:nvSpPr>
          <p:cNvPr id="30" name="Text 23"/>
          <p:cNvSpPr/>
          <p:nvPr/>
        </p:nvSpPr>
        <p:spPr>
          <a:xfrm>
            <a:off x="9665208" y="3840480"/>
            <a:ext cx="1810512" cy="548640"/>
          </a:xfrm>
          <a:prstGeom prst="rect">
            <a:avLst/>
          </a:prstGeom>
          <a:noFill/>
          <a:ln/>
        </p:spPr>
        <p:txBody>
          <a:bodyPr wrap="square" rtlCol="0" anchor="ctr"/>
          <a:lstStyle/>
          <a:p>
            <a:pPr algn="ctr" indent="0" marL="0">
              <a:lnSpc>
                <a:spcPct val="100000"/>
              </a:lnSpc>
              <a:buNone/>
            </a:pPr>
            <a:r>
              <a:rPr lang="en-US" sz="1150" dirty="0">
                <a:solidFill>
                  <a:srgbClr val="475569"/>
                </a:solidFill>
                <a:latin typeface="Calibri" pitchFamily="34" charset="0"/>
                <a:ea typeface="Calibri" pitchFamily="34" charset="-122"/>
                <a:cs typeface="Calibri" pitchFamily="34" charset="-120"/>
              </a:rPr>
              <a:t>Relational storage</a:t>
            </a:r>
            <a:endParaRPr lang="en-US" sz="1150" dirty="0"/>
          </a:p>
        </p:txBody>
      </p:sp>
      <p:sp>
        <p:nvSpPr>
          <p:cNvPr id="31" name="Shape 24"/>
          <p:cNvSpPr/>
          <p:nvPr/>
        </p:nvSpPr>
        <p:spPr>
          <a:xfrm>
            <a:off x="640080" y="4892040"/>
            <a:ext cx="10899648" cy="1051560"/>
          </a:xfrm>
          <a:prstGeom prst="roundRect">
            <a:avLst>
              <a:gd name="adj" fmla="val 6957"/>
            </a:avLst>
          </a:prstGeom>
          <a:solidFill>
            <a:srgbClr val="12233B"/>
          </a:solidFill>
          <a:ln/>
        </p:spPr>
      </p:sp>
      <p:sp>
        <p:nvSpPr>
          <p:cNvPr id="32" name="Shape 25"/>
          <p:cNvSpPr/>
          <p:nvPr/>
        </p:nvSpPr>
        <p:spPr>
          <a:xfrm>
            <a:off x="914400" y="5093208"/>
            <a:ext cx="658368" cy="658368"/>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33" name="Image 5" descr="preencoded.png">    </p:cNvPr>
          <p:cNvPicPr>
            <a:picLocks noChangeAspect="1"/>
          </p:cNvPicPr>
          <p:nvPr/>
        </p:nvPicPr>
        <p:blipFill>
          <a:blip r:embed="rId6"/>
          <a:stretch>
            <a:fillRect/>
          </a:stretch>
        </p:blipFill>
        <p:spPr>
          <a:xfrm>
            <a:off x="1085576" y="5264384"/>
            <a:ext cx="316017" cy="316017"/>
          </a:xfrm>
          <a:prstGeom prst="rect">
            <a:avLst/>
          </a:prstGeom>
        </p:spPr>
      </p:pic>
      <p:sp>
        <p:nvSpPr>
          <p:cNvPr id="34" name="Text 26"/>
          <p:cNvSpPr/>
          <p:nvPr/>
        </p:nvSpPr>
        <p:spPr>
          <a:xfrm>
            <a:off x="1783080" y="4892040"/>
            <a:ext cx="9601200" cy="1051560"/>
          </a:xfrm>
          <a:prstGeom prst="rect">
            <a:avLst/>
          </a:prstGeom>
          <a:noFill/>
          <a:ln/>
        </p:spPr>
        <p:txBody>
          <a:bodyPr wrap="square" rtlCol="0" anchor="ctr"/>
          <a:lstStyle/>
          <a:p>
            <a:pPr algn="l" indent="0" marL="0">
              <a:lnSpc>
                <a:spcPct val="105000"/>
              </a:lnSpc>
              <a:buNone/>
            </a:pPr>
            <a:r>
              <a:rPr lang="en-US" sz="1400" b="1" dirty="0">
                <a:solidFill>
                  <a:srgbClr val="CCFBF1"/>
                </a:solidFill>
                <a:latin typeface="Calibri" pitchFamily="34" charset="0"/>
                <a:ea typeface="Calibri" pitchFamily="34" charset="-122"/>
                <a:cs typeface="Calibri" pitchFamily="34" charset="-120"/>
              </a:rPr>
              <a:t>Why no framework?  </a:t>
            </a:r>
            <a:pPr algn="l" indent="0" marL="0">
              <a:lnSpc>
                <a:spcPct val="105000"/>
              </a:lnSpc>
              <a:buNone/>
            </a:pPr>
            <a:r>
              <a:rPr lang="en-US" sz="1400" dirty="0">
                <a:solidFill>
                  <a:srgbClr val="FFFFFF"/>
                </a:solidFill>
                <a:latin typeface="Calibri" pitchFamily="34" charset="0"/>
                <a:ea typeface="Calibri" pitchFamily="34" charset="-122"/>
                <a:cs typeface="Calibri" pitchFamily="34" charset="-120"/>
              </a:rPr>
              <a:t>Building from first principles demonstrates real understanding of the web and keeps every component fully under our control.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DATABASE DESIGN</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Eleven Interrelated Tables</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11</a:t>
            </a:r>
            <a:endParaRPr lang="en-US" sz="950" dirty="0"/>
          </a:p>
        </p:txBody>
      </p:sp>
      <p:pic>
        <p:nvPicPr>
          <p:cNvPr id="6" name="Image 0" descr="assets/er.png">    </p:cNvPr>
          <p:cNvPicPr>
            <a:picLocks noChangeAspect="1"/>
          </p:cNvPicPr>
          <p:nvPr/>
        </p:nvPicPr>
        <p:blipFill>
          <a:blip r:embed="rId1"/>
          <a:stretch>
            <a:fillRect/>
          </a:stretch>
        </p:blipFill>
        <p:spPr>
          <a:xfrm>
            <a:off x="502920" y="1737360"/>
            <a:ext cx="7040880" cy="4081670"/>
          </a:xfrm>
          <a:prstGeom prst="rect">
            <a:avLst/>
          </a:prstGeom>
        </p:spPr>
      </p:pic>
      <p:sp>
        <p:nvSpPr>
          <p:cNvPr id="7" name="Shape 4"/>
          <p:cNvSpPr/>
          <p:nvPr/>
        </p:nvSpPr>
        <p:spPr>
          <a:xfrm>
            <a:off x="7955280" y="1828800"/>
            <a:ext cx="3566160" cy="1234440"/>
          </a:xfrm>
          <a:prstGeom prst="roundRect">
            <a:avLst>
              <a:gd name="adj" fmla="val 5926"/>
            </a:avLst>
          </a:prstGeom>
          <a:solidFill>
            <a:srgbClr val="F0FDFA"/>
          </a:solidFill>
          <a:ln/>
          <a:effectLst>
            <a:outerShdw sx="100000" sy="100000" kx="0" ky="0" algn="bl" rotWithShape="0" blurRad="114300" dist="38100" dir="5400000">
              <a:srgbClr val="1E293B">
                <a:alpha val="16000"/>
              </a:srgbClr>
            </a:outerShdw>
          </a:effectLst>
        </p:spPr>
      </p:sp>
      <p:sp>
        <p:nvSpPr>
          <p:cNvPr id="8" name="Text 5"/>
          <p:cNvSpPr/>
          <p:nvPr/>
        </p:nvSpPr>
        <p:spPr>
          <a:xfrm>
            <a:off x="8183880" y="1920240"/>
            <a:ext cx="1371600" cy="1051560"/>
          </a:xfrm>
          <a:prstGeom prst="rect">
            <a:avLst/>
          </a:prstGeom>
          <a:noFill/>
          <a:ln/>
        </p:spPr>
        <p:txBody>
          <a:bodyPr wrap="square" rtlCol="0" anchor="ctr"/>
          <a:lstStyle/>
          <a:p>
            <a:pPr algn="ctr" indent="0" marL="0">
              <a:buNone/>
            </a:pPr>
            <a:r>
              <a:rPr lang="en-US" sz="4000" b="1" dirty="0">
                <a:solidFill>
                  <a:srgbClr val="0F766E"/>
                </a:solidFill>
                <a:latin typeface="Cambria" pitchFamily="34" charset="0"/>
                <a:ea typeface="Cambria" pitchFamily="34" charset="-122"/>
                <a:cs typeface="Cambria" pitchFamily="34" charset="-120"/>
              </a:rPr>
              <a:t>11</a:t>
            </a:r>
            <a:endParaRPr lang="en-US" sz="4000" dirty="0"/>
          </a:p>
        </p:txBody>
      </p:sp>
      <p:sp>
        <p:nvSpPr>
          <p:cNvPr id="9" name="Text 6"/>
          <p:cNvSpPr/>
          <p:nvPr/>
        </p:nvSpPr>
        <p:spPr>
          <a:xfrm>
            <a:off x="9464040" y="1920240"/>
            <a:ext cx="1874520" cy="1051560"/>
          </a:xfrm>
          <a:prstGeom prst="rect">
            <a:avLst/>
          </a:prstGeom>
          <a:noFill/>
          <a:ln/>
        </p:spPr>
        <p:txBody>
          <a:bodyPr wrap="square" rtlCol="0" anchor="ctr"/>
          <a:lstStyle/>
          <a:p>
            <a:pPr algn="l" indent="0" marL="0">
              <a:lnSpc>
                <a:spcPct val="105000"/>
              </a:lnSpc>
              <a:buNone/>
            </a:pPr>
            <a:r>
              <a:rPr lang="en-US" sz="1300" dirty="0">
                <a:solidFill>
                  <a:srgbClr val="12233B"/>
                </a:solidFill>
                <a:latin typeface="Calibri" pitchFamily="34" charset="0"/>
                <a:ea typeface="Calibri" pitchFamily="34" charset="-122"/>
                <a:cs typeface="Calibri" pitchFamily="34" charset="-120"/>
              </a:rPr>
              <a:t>relational tables</a:t>
            </a:r>
            <a:endParaRPr lang="en-US" sz="1300" dirty="0"/>
          </a:p>
        </p:txBody>
      </p:sp>
      <p:sp>
        <p:nvSpPr>
          <p:cNvPr id="10" name="Shape 7"/>
          <p:cNvSpPr/>
          <p:nvPr/>
        </p:nvSpPr>
        <p:spPr>
          <a:xfrm>
            <a:off x="7955280" y="3246120"/>
            <a:ext cx="3566160" cy="1234440"/>
          </a:xfrm>
          <a:prstGeom prst="roundRect">
            <a:avLst>
              <a:gd name="adj" fmla="val 5926"/>
            </a:avLst>
          </a:prstGeom>
          <a:solidFill>
            <a:srgbClr val="F0FDFA"/>
          </a:solidFill>
          <a:ln/>
          <a:effectLst>
            <a:outerShdw sx="100000" sy="100000" kx="0" ky="0" algn="bl" rotWithShape="0" blurRad="114300" dist="38100" dir="5400000">
              <a:srgbClr val="1E293B">
                <a:alpha val="16000"/>
              </a:srgbClr>
            </a:outerShdw>
          </a:effectLst>
        </p:spPr>
      </p:sp>
      <p:sp>
        <p:nvSpPr>
          <p:cNvPr id="11" name="Text 8"/>
          <p:cNvSpPr/>
          <p:nvPr/>
        </p:nvSpPr>
        <p:spPr>
          <a:xfrm>
            <a:off x="8183880" y="3337560"/>
            <a:ext cx="1371600" cy="1051560"/>
          </a:xfrm>
          <a:prstGeom prst="rect">
            <a:avLst/>
          </a:prstGeom>
          <a:noFill/>
          <a:ln/>
        </p:spPr>
        <p:txBody>
          <a:bodyPr wrap="square" rtlCol="0" anchor="ctr"/>
          <a:lstStyle/>
          <a:p>
            <a:pPr algn="ctr" indent="0" marL="0">
              <a:buNone/>
            </a:pPr>
            <a:r>
              <a:rPr lang="en-US" sz="4000" b="1" dirty="0">
                <a:solidFill>
                  <a:srgbClr val="0F766E"/>
                </a:solidFill>
                <a:latin typeface="Cambria" pitchFamily="34" charset="0"/>
                <a:ea typeface="Cambria" pitchFamily="34" charset="-122"/>
                <a:cs typeface="Cambria" pitchFamily="34" charset="-120"/>
              </a:rPr>
              <a:t>3+</a:t>
            </a:r>
            <a:endParaRPr lang="en-US" sz="4000" dirty="0"/>
          </a:p>
        </p:txBody>
      </p:sp>
      <p:sp>
        <p:nvSpPr>
          <p:cNvPr id="12" name="Text 9"/>
          <p:cNvSpPr/>
          <p:nvPr/>
        </p:nvSpPr>
        <p:spPr>
          <a:xfrm>
            <a:off x="9464040" y="3337560"/>
            <a:ext cx="1874520" cy="1051560"/>
          </a:xfrm>
          <a:prstGeom prst="rect">
            <a:avLst/>
          </a:prstGeom>
          <a:noFill/>
          <a:ln/>
        </p:spPr>
        <p:txBody>
          <a:bodyPr wrap="square" rtlCol="0" anchor="ctr"/>
          <a:lstStyle/>
          <a:p>
            <a:pPr algn="l" indent="0" marL="0">
              <a:lnSpc>
                <a:spcPct val="105000"/>
              </a:lnSpc>
              <a:buNone/>
            </a:pPr>
            <a:r>
              <a:rPr lang="en-US" sz="1300" dirty="0">
                <a:solidFill>
                  <a:srgbClr val="12233B"/>
                </a:solidFill>
                <a:latin typeface="Calibri" pitchFamily="34" charset="0"/>
                <a:ea typeface="Calibri" pitchFamily="34" charset="-122"/>
                <a:cs typeface="Calibri" pitchFamily="34" charset="-120"/>
              </a:rPr>
              <a:t>normalised design</a:t>
            </a:r>
            <a:endParaRPr lang="en-US" sz="1300" dirty="0"/>
          </a:p>
        </p:txBody>
      </p:sp>
      <p:sp>
        <p:nvSpPr>
          <p:cNvPr id="13" name="Shape 10"/>
          <p:cNvSpPr/>
          <p:nvPr/>
        </p:nvSpPr>
        <p:spPr>
          <a:xfrm>
            <a:off x="7955280" y="4663440"/>
            <a:ext cx="3566160" cy="1234440"/>
          </a:xfrm>
          <a:prstGeom prst="roundRect">
            <a:avLst>
              <a:gd name="adj" fmla="val 5926"/>
            </a:avLst>
          </a:prstGeom>
          <a:solidFill>
            <a:srgbClr val="F0FDFA"/>
          </a:solidFill>
          <a:ln/>
          <a:effectLst>
            <a:outerShdw sx="100000" sy="100000" kx="0" ky="0" algn="bl" rotWithShape="0" blurRad="114300" dist="38100" dir="5400000">
              <a:srgbClr val="1E293B">
                <a:alpha val="16000"/>
              </a:srgbClr>
            </a:outerShdw>
          </a:effectLst>
        </p:spPr>
      </p:sp>
      <p:sp>
        <p:nvSpPr>
          <p:cNvPr id="14" name="Text 11"/>
          <p:cNvSpPr/>
          <p:nvPr/>
        </p:nvSpPr>
        <p:spPr>
          <a:xfrm>
            <a:off x="8183880" y="4754880"/>
            <a:ext cx="1371600" cy="1051560"/>
          </a:xfrm>
          <a:prstGeom prst="rect">
            <a:avLst/>
          </a:prstGeom>
          <a:noFill/>
          <a:ln/>
        </p:spPr>
        <p:txBody>
          <a:bodyPr wrap="square" rtlCol="0" anchor="ctr"/>
          <a:lstStyle/>
          <a:p>
            <a:pPr algn="ctr" indent="0" marL="0">
              <a:buNone/>
            </a:pPr>
            <a:r>
              <a:rPr lang="en-US" sz="4000" b="1" dirty="0">
                <a:solidFill>
                  <a:srgbClr val="0F766E"/>
                </a:solidFill>
                <a:latin typeface="Cambria" pitchFamily="34" charset="0"/>
                <a:ea typeface="Cambria" pitchFamily="34" charset="-122"/>
                <a:cs typeface="Cambria" pitchFamily="34" charset="-120"/>
              </a:rPr>
              <a:t>Live</a:t>
            </a:r>
            <a:endParaRPr lang="en-US" sz="4000" dirty="0"/>
          </a:p>
        </p:txBody>
      </p:sp>
      <p:sp>
        <p:nvSpPr>
          <p:cNvPr id="15" name="Text 12"/>
          <p:cNvSpPr/>
          <p:nvPr/>
        </p:nvSpPr>
        <p:spPr>
          <a:xfrm>
            <a:off x="9464040" y="4754880"/>
            <a:ext cx="1874520" cy="1051560"/>
          </a:xfrm>
          <a:prstGeom prst="rect">
            <a:avLst/>
          </a:prstGeom>
          <a:noFill/>
          <a:ln/>
        </p:spPr>
        <p:txBody>
          <a:bodyPr wrap="square" rtlCol="0" anchor="ctr"/>
          <a:lstStyle/>
          <a:p>
            <a:pPr algn="l" indent="0" marL="0">
              <a:lnSpc>
                <a:spcPct val="105000"/>
              </a:lnSpc>
              <a:buNone/>
            </a:pPr>
            <a:r>
              <a:rPr lang="en-US" sz="1300" dirty="0">
                <a:solidFill>
                  <a:srgbClr val="12233B"/>
                </a:solidFill>
                <a:latin typeface="Calibri" pitchFamily="34" charset="0"/>
                <a:ea typeface="Calibri" pitchFamily="34" charset="-122"/>
                <a:cs typeface="Calibri" pitchFamily="34" charset="-120"/>
              </a:rPr>
              <a:t>sample data by import date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SECURITY</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Built In From the Start</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12</a:t>
            </a:r>
            <a:endParaRPr lang="en-US" sz="950" dirty="0"/>
          </a:p>
        </p:txBody>
      </p:sp>
      <p:sp>
        <p:nvSpPr>
          <p:cNvPr id="6" name="Shape 4"/>
          <p:cNvSpPr/>
          <p:nvPr/>
        </p:nvSpPr>
        <p:spPr>
          <a:xfrm>
            <a:off x="640080" y="1691640"/>
            <a:ext cx="5394960" cy="1234440"/>
          </a:xfrm>
          <a:prstGeom prst="roundRect">
            <a:avLst>
              <a:gd name="adj" fmla="val 5185"/>
            </a:avLst>
          </a:prstGeom>
          <a:solidFill>
            <a:srgbClr val="F1F5F9"/>
          </a:solidFill>
          <a:ln/>
        </p:spPr>
      </p:sp>
      <p:sp>
        <p:nvSpPr>
          <p:cNvPr id="7" name="Shape 5"/>
          <p:cNvSpPr/>
          <p:nvPr/>
        </p:nvSpPr>
        <p:spPr>
          <a:xfrm>
            <a:off x="896112" y="2011680"/>
            <a:ext cx="603504" cy="603504"/>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1053023" y="2168591"/>
            <a:ext cx="289682" cy="289682"/>
          </a:xfrm>
          <a:prstGeom prst="rect">
            <a:avLst/>
          </a:prstGeom>
        </p:spPr>
      </p:pic>
      <p:sp>
        <p:nvSpPr>
          <p:cNvPr id="9" name="Text 6"/>
          <p:cNvSpPr/>
          <p:nvPr/>
        </p:nvSpPr>
        <p:spPr>
          <a:xfrm>
            <a:off x="1691640" y="1837944"/>
            <a:ext cx="4160520" cy="365760"/>
          </a:xfrm>
          <a:prstGeom prst="rect">
            <a:avLst/>
          </a:prstGeom>
          <a:noFill/>
          <a:ln/>
        </p:spPr>
        <p:txBody>
          <a:bodyPr wrap="square" rtlCol="0" anchor="ctr"/>
          <a:lstStyle/>
          <a:p>
            <a:pPr algn="l" indent="0" marL="0">
              <a:buNone/>
            </a:pPr>
            <a:r>
              <a:rPr lang="en-US" sz="1450" b="1" dirty="0">
                <a:solidFill>
                  <a:srgbClr val="12233B"/>
                </a:solidFill>
                <a:latin typeface="Cambria" pitchFamily="34" charset="0"/>
                <a:ea typeface="Cambria" pitchFamily="34" charset="-122"/>
                <a:cs typeface="Cambria" pitchFamily="34" charset="-120"/>
              </a:rPr>
              <a:t>Password hashing</a:t>
            </a:r>
            <a:endParaRPr lang="en-US" sz="1450" dirty="0"/>
          </a:p>
        </p:txBody>
      </p:sp>
      <p:sp>
        <p:nvSpPr>
          <p:cNvPr id="10" name="Text 7"/>
          <p:cNvSpPr/>
          <p:nvPr/>
        </p:nvSpPr>
        <p:spPr>
          <a:xfrm>
            <a:off x="1691640" y="2240280"/>
            <a:ext cx="4160520" cy="594360"/>
          </a:xfrm>
          <a:prstGeom prst="rect">
            <a:avLst/>
          </a:prstGeom>
          <a:noFill/>
          <a:ln/>
        </p:spPr>
        <p:txBody>
          <a:bodyPr wrap="square" rtlCol="0" anchor="ctr"/>
          <a:lstStyle/>
          <a:p>
            <a:pPr algn="l" indent="0" marL="0">
              <a:lnSpc>
                <a:spcPct val="100000"/>
              </a:lnSpc>
              <a:buNone/>
            </a:pPr>
            <a:r>
              <a:rPr lang="en-US" sz="1180" dirty="0">
                <a:solidFill>
                  <a:srgbClr val="475569"/>
                </a:solidFill>
                <a:latin typeface="Calibri" pitchFamily="34" charset="0"/>
                <a:ea typeface="Calibri" pitchFamily="34" charset="-122"/>
                <a:cs typeface="Calibri" pitchFamily="34" charset="-120"/>
              </a:rPr>
              <a:t>password_hash() / verify() — never plain text.</a:t>
            </a:r>
            <a:endParaRPr lang="en-US" sz="1180" dirty="0"/>
          </a:p>
        </p:txBody>
      </p:sp>
      <p:sp>
        <p:nvSpPr>
          <p:cNvPr id="11" name="Shape 8"/>
          <p:cNvSpPr/>
          <p:nvPr/>
        </p:nvSpPr>
        <p:spPr>
          <a:xfrm>
            <a:off x="6217920" y="1691640"/>
            <a:ext cx="5394960" cy="1234440"/>
          </a:xfrm>
          <a:prstGeom prst="roundRect">
            <a:avLst>
              <a:gd name="adj" fmla="val 5185"/>
            </a:avLst>
          </a:prstGeom>
          <a:solidFill>
            <a:srgbClr val="F1F5F9"/>
          </a:solidFill>
          <a:ln/>
        </p:spPr>
      </p:sp>
      <p:sp>
        <p:nvSpPr>
          <p:cNvPr id="12" name="Shape 9"/>
          <p:cNvSpPr/>
          <p:nvPr/>
        </p:nvSpPr>
        <p:spPr>
          <a:xfrm>
            <a:off x="6473952" y="2011680"/>
            <a:ext cx="603504" cy="603504"/>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3" name="Image 1" descr="preencoded.png">    </p:cNvPr>
          <p:cNvPicPr>
            <a:picLocks noChangeAspect="1"/>
          </p:cNvPicPr>
          <p:nvPr/>
        </p:nvPicPr>
        <p:blipFill>
          <a:blip r:embed="rId2"/>
          <a:stretch>
            <a:fillRect/>
          </a:stretch>
        </p:blipFill>
        <p:spPr>
          <a:xfrm>
            <a:off x="6630863" y="2168591"/>
            <a:ext cx="289682" cy="289682"/>
          </a:xfrm>
          <a:prstGeom prst="rect">
            <a:avLst/>
          </a:prstGeom>
        </p:spPr>
      </p:pic>
      <p:sp>
        <p:nvSpPr>
          <p:cNvPr id="14" name="Text 10"/>
          <p:cNvSpPr/>
          <p:nvPr/>
        </p:nvSpPr>
        <p:spPr>
          <a:xfrm>
            <a:off x="7269480" y="1837944"/>
            <a:ext cx="4160520" cy="365760"/>
          </a:xfrm>
          <a:prstGeom prst="rect">
            <a:avLst/>
          </a:prstGeom>
          <a:noFill/>
          <a:ln/>
        </p:spPr>
        <p:txBody>
          <a:bodyPr wrap="square" rtlCol="0" anchor="ctr"/>
          <a:lstStyle/>
          <a:p>
            <a:pPr algn="l" indent="0" marL="0">
              <a:buNone/>
            </a:pPr>
            <a:r>
              <a:rPr lang="en-US" sz="1450" b="1" dirty="0">
                <a:solidFill>
                  <a:srgbClr val="12233B"/>
                </a:solidFill>
                <a:latin typeface="Cambria" pitchFamily="34" charset="0"/>
                <a:ea typeface="Cambria" pitchFamily="34" charset="-122"/>
                <a:cs typeface="Cambria" pitchFamily="34" charset="-120"/>
              </a:rPr>
              <a:t>SQL injection</a:t>
            </a:r>
            <a:endParaRPr lang="en-US" sz="1450" dirty="0"/>
          </a:p>
        </p:txBody>
      </p:sp>
      <p:sp>
        <p:nvSpPr>
          <p:cNvPr id="15" name="Text 11"/>
          <p:cNvSpPr/>
          <p:nvPr/>
        </p:nvSpPr>
        <p:spPr>
          <a:xfrm>
            <a:off x="7269480" y="2240280"/>
            <a:ext cx="4160520" cy="594360"/>
          </a:xfrm>
          <a:prstGeom prst="rect">
            <a:avLst/>
          </a:prstGeom>
          <a:noFill/>
          <a:ln/>
        </p:spPr>
        <p:txBody>
          <a:bodyPr wrap="square" rtlCol="0" anchor="ctr"/>
          <a:lstStyle/>
          <a:p>
            <a:pPr algn="l" indent="0" marL="0">
              <a:lnSpc>
                <a:spcPct val="100000"/>
              </a:lnSpc>
              <a:buNone/>
            </a:pPr>
            <a:r>
              <a:rPr lang="en-US" sz="1180" dirty="0">
                <a:solidFill>
                  <a:srgbClr val="475569"/>
                </a:solidFill>
                <a:latin typeface="Calibri" pitchFamily="34" charset="0"/>
                <a:ea typeface="Calibri" pitchFamily="34" charset="-122"/>
                <a:cs typeface="Calibri" pitchFamily="34" charset="-120"/>
              </a:rPr>
              <a:t>Prepared statements on every query.</a:t>
            </a:r>
            <a:endParaRPr lang="en-US" sz="1180" dirty="0"/>
          </a:p>
        </p:txBody>
      </p:sp>
      <p:sp>
        <p:nvSpPr>
          <p:cNvPr id="16" name="Shape 12"/>
          <p:cNvSpPr/>
          <p:nvPr/>
        </p:nvSpPr>
        <p:spPr>
          <a:xfrm>
            <a:off x="640080" y="3127248"/>
            <a:ext cx="5394960" cy="1234440"/>
          </a:xfrm>
          <a:prstGeom prst="roundRect">
            <a:avLst>
              <a:gd name="adj" fmla="val 5185"/>
            </a:avLst>
          </a:prstGeom>
          <a:solidFill>
            <a:srgbClr val="F1F5F9"/>
          </a:solidFill>
          <a:ln/>
        </p:spPr>
      </p:sp>
      <p:sp>
        <p:nvSpPr>
          <p:cNvPr id="17" name="Shape 13"/>
          <p:cNvSpPr/>
          <p:nvPr/>
        </p:nvSpPr>
        <p:spPr>
          <a:xfrm>
            <a:off x="896112" y="3447288"/>
            <a:ext cx="603504" cy="603504"/>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8" name="Image 2" descr="preencoded.png">    </p:cNvPr>
          <p:cNvPicPr>
            <a:picLocks noChangeAspect="1"/>
          </p:cNvPicPr>
          <p:nvPr/>
        </p:nvPicPr>
        <p:blipFill>
          <a:blip r:embed="rId3"/>
          <a:stretch>
            <a:fillRect/>
          </a:stretch>
        </p:blipFill>
        <p:spPr>
          <a:xfrm>
            <a:off x="1053023" y="3604199"/>
            <a:ext cx="289682" cy="289682"/>
          </a:xfrm>
          <a:prstGeom prst="rect">
            <a:avLst/>
          </a:prstGeom>
        </p:spPr>
      </p:pic>
      <p:sp>
        <p:nvSpPr>
          <p:cNvPr id="19" name="Text 14"/>
          <p:cNvSpPr/>
          <p:nvPr/>
        </p:nvSpPr>
        <p:spPr>
          <a:xfrm>
            <a:off x="1691640" y="3273552"/>
            <a:ext cx="4160520" cy="365760"/>
          </a:xfrm>
          <a:prstGeom prst="rect">
            <a:avLst/>
          </a:prstGeom>
          <a:noFill/>
          <a:ln/>
        </p:spPr>
        <p:txBody>
          <a:bodyPr wrap="square" rtlCol="0" anchor="ctr"/>
          <a:lstStyle/>
          <a:p>
            <a:pPr algn="l" indent="0" marL="0">
              <a:buNone/>
            </a:pPr>
            <a:r>
              <a:rPr lang="en-US" sz="1450" b="1" dirty="0">
                <a:solidFill>
                  <a:srgbClr val="12233B"/>
                </a:solidFill>
                <a:latin typeface="Cambria" pitchFamily="34" charset="0"/>
                <a:ea typeface="Cambria" pitchFamily="34" charset="-122"/>
                <a:cs typeface="Cambria" pitchFamily="34" charset="-120"/>
              </a:rPr>
              <a:t>XSS protection</a:t>
            </a:r>
            <a:endParaRPr lang="en-US" sz="1450" dirty="0"/>
          </a:p>
        </p:txBody>
      </p:sp>
      <p:sp>
        <p:nvSpPr>
          <p:cNvPr id="20" name="Text 15"/>
          <p:cNvSpPr/>
          <p:nvPr/>
        </p:nvSpPr>
        <p:spPr>
          <a:xfrm>
            <a:off x="1691640" y="3675888"/>
            <a:ext cx="4160520" cy="594360"/>
          </a:xfrm>
          <a:prstGeom prst="rect">
            <a:avLst/>
          </a:prstGeom>
          <a:noFill/>
          <a:ln/>
        </p:spPr>
        <p:txBody>
          <a:bodyPr wrap="square" rtlCol="0" anchor="ctr"/>
          <a:lstStyle/>
          <a:p>
            <a:pPr algn="l" indent="0" marL="0">
              <a:lnSpc>
                <a:spcPct val="100000"/>
              </a:lnSpc>
              <a:buNone/>
            </a:pPr>
            <a:r>
              <a:rPr lang="en-US" sz="1180" dirty="0">
                <a:solidFill>
                  <a:srgbClr val="475569"/>
                </a:solidFill>
                <a:latin typeface="Calibri" pitchFamily="34" charset="0"/>
                <a:ea typeface="Calibri" pitchFamily="34" charset="-122"/>
                <a:cs typeface="Calibri" pitchFamily="34" charset="-120"/>
              </a:rPr>
              <a:t>Input sanitised in, escaped out.</a:t>
            </a:r>
            <a:endParaRPr lang="en-US" sz="1180" dirty="0"/>
          </a:p>
        </p:txBody>
      </p:sp>
      <p:sp>
        <p:nvSpPr>
          <p:cNvPr id="21" name="Shape 16"/>
          <p:cNvSpPr/>
          <p:nvPr/>
        </p:nvSpPr>
        <p:spPr>
          <a:xfrm>
            <a:off x="6217920" y="3127248"/>
            <a:ext cx="5394960" cy="1234440"/>
          </a:xfrm>
          <a:prstGeom prst="roundRect">
            <a:avLst>
              <a:gd name="adj" fmla="val 5185"/>
            </a:avLst>
          </a:prstGeom>
          <a:solidFill>
            <a:srgbClr val="F1F5F9"/>
          </a:solidFill>
          <a:ln/>
        </p:spPr>
      </p:sp>
      <p:sp>
        <p:nvSpPr>
          <p:cNvPr id="22" name="Shape 17"/>
          <p:cNvSpPr/>
          <p:nvPr/>
        </p:nvSpPr>
        <p:spPr>
          <a:xfrm>
            <a:off x="6473952" y="3447288"/>
            <a:ext cx="603504" cy="603504"/>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3" name="Image 3" descr="preencoded.png">    </p:cNvPr>
          <p:cNvPicPr>
            <a:picLocks noChangeAspect="1"/>
          </p:cNvPicPr>
          <p:nvPr/>
        </p:nvPicPr>
        <p:blipFill>
          <a:blip r:embed="rId4"/>
          <a:stretch>
            <a:fillRect/>
          </a:stretch>
        </p:blipFill>
        <p:spPr>
          <a:xfrm>
            <a:off x="6630863" y="3604199"/>
            <a:ext cx="289682" cy="289682"/>
          </a:xfrm>
          <a:prstGeom prst="rect">
            <a:avLst/>
          </a:prstGeom>
        </p:spPr>
      </p:pic>
      <p:sp>
        <p:nvSpPr>
          <p:cNvPr id="24" name="Text 18"/>
          <p:cNvSpPr/>
          <p:nvPr/>
        </p:nvSpPr>
        <p:spPr>
          <a:xfrm>
            <a:off x="7269480" y="3273552"/>
            <a:ext cx="4160520" cy="365760"/>
          </a:xfrm>
          <a:prstGeom prst="rect">
            <a:avLst/>
          </a:prstGeom>
          <a:noFill/>
          <a:ln/>
        </p:spPr>
        <p:txBody>
          <a:bodyPr wrap="square" rtlCol="0" anchor="ctr"/>
          <a:lstStyle/>
          <a:p>
            <a:pPr algn="l" indent="0" marL="0">
              <a:buNone/>
            </a:pPr>
            <a:r>
              <a:rPr lang="en-US" sz="1450" b="1" dirty="0">
                <a:solidFill>
                  <a:srgbClr val="12233B"/>
                </a:solidFill>
                <a:latin typeface="Cambria" pitchFamily="34" charset="0"/>
                <a:ea typeface="Cambria" pitchFamily="34" charset="-122"/>
                <a:cs typeface="Cambria" pitchFamily="34" charset="-120"/>
              </a:rPr>
              <a:t>CSRF tokens</a:t>
            </a:r>
            <a:endParaRPr lang="en-US" sz="1450" dirty="0"/>
          </a:p>
        </p:txBody>
      </p:sp>
      <p:sp>
        <p:nvSpPr>
          <p:cNvPr id="25" name="Text 19"/>
          <p:cNvSpPr/>
          <p:nvPr/>
        </p:nvSpPr>
        <p:spPr>
          <a:xfrm>
            <a:off x="7269480" y="3675888"/>
            <a:ext cx="4160520" cy="594360"/>
          </a:xfrm>
          <a:prstGeom prst="rect">
            <a:avLst/>
          </a:prstGeom>
          <a:noFill/>
          <a:ln/>
        </p:spPr>
        <p:txBody>
          <a:bodyPr wrap="square" rtlCol="0" anchor="ctr"/>
          <a:lstStyle/>
          <a:p>
            <a:pPr algn="l" indent="0" marL="0">
              <a:lnSpc>
                <a:spcPct val="100000"/>
              </a:lnSpc>
              <a:buNone/>
            </a:pPr>
            <a:r>
              <a:rPr lang="en-US" sz="1180" dirty="0">
                <a:solidFill>
                  <a:srgbClr val="475569"/>
                </a:solidFill>
                <a:latin typeface="Calibri" pitchFamily="34" charset="0"/>
                <a:ea typeface="Calibri" pitchFamily="34" charset="-122"/>
                <a:cs typeface="Calibri" pitchFamily="34" charset="-120"/>
              </a:rPr>
              <a:t>Every form validated; bad tokens rejected.</a:t>
            </a:r>
            <a:endParaRPr lang="en-US" sz="1180" dirty="0"/>
          </a:p>
        </p:txBody>
      </p:sp>
      <p:sp>
        <p:nvSpPr>
          <p:cNvPr id="26" name="Shape 20"/>
          <p:cNvSpPr/>
          <p:nvPr/>
        </p:nvSpPr>
        <p:spPr>
          <a:xfrm>
            <a:off x="640080" y="4562856"/>
            <a:ext cx="5394960" cy="1234440"/>
          </a:xfrm>
          <a:prstGeom prst="roundRect">
            <a:avLst>
              <a:gd name="adj" fmla="val 5185"/>
            </a:avLst>
          </a:prstGeom>
          <a:solidFill>
            <a:srgbClr val="F1F5F9"/>
          </a:solidFill>
          <a:ln/>
        </p:spPr>
      </p:sp>
      <p:sp>
        <p:nvSpPr>
          <p:cNvPr id="27" name="Shape 21"/>
          <p:cNvSpPr/>
          <p:nvPr/>
        </p:nvSpPr>
        <p:spPr>
          <a:xfrm>
            <a:off x="896112" y="4882896"/>
            <a:ext cx="603504" cy="603504"/>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28" name="Image 4" descr="preencoded.png">    </p:cNvPr>
          <p:cNvPicPr>
            <a:picLocks noChangeAspect="1"/>
          </p:cNvPicPr>
          <p:nvPr/>
        </p:nvPicPr>
        <p:blipFill>
          <a:blip r:embed="rId5"/>
          <a:stretch>
            <a:fillRect/>
          </a:stretch>
        </p:blipFill>
        <p:spPr>
          <a:xfrm>
            <a:off x="1053023" y="5039807"/>
            <a:ext cx="289682" cy="289682"/>
          </a:xfrm>
          <a:prstGeom prst="rect">
            <a:avLst/>
          </a:prstGeom>
        </p:spPr>
      </p:pic>
      <p:sp>
        <p:nvSpPr>
          <p:cNvPr id="29" name="Text 22"/>
          <p:cNvSpPr/>
          <p:nvPr/>
        </p:nvSpPr>
        <p:spPr>
          <a:xfrm>
            <a:off x="1691640" y="4709160"/>
            <a:ext cx="4160520" cy="365760"/>
          </a:xfrm>
          <a:prstGeom prst="rect">
            <a:avLst/>
          </a:prstGeom>
          <a:noFill/>
          <a:ln/>
        </p:spPr>
        <p:txBody>
          <a:bodyPr wrap="square" rtlCol="0" anchor="ctr"/>
          <a:lstStyle/>
          <a:p>
            <a:pPr algn="l" indent="0" marL="0">
              <a:buNone/>
            </a:pPr>
            <a:r>
              <a:rPr lang="en-US" sz="1450" b="1" dirty="0">
                <a:solidFill>
                  <a:srgbClr val="12233B"/>
                </a:solidFill>
                <a:latin typeface="Cambria" pitchFamily="34" charset="0"/>
                <a:ea typeface="Cambria" pitchFamily="34" charset="-122"/>
                <a:cs typeface="Cambria" pitchFamily="34" charset="-120"/>
              </a:rPr>
              <a:t>Session security</a:t>
            </a:r>
            <a:endParaRPr lang="en-US" sz="1450" dirty="0"/>
          </a:p>
        </p:txBody>
      </p:sp>
      <p:sp>
        <p:nvSpPr>
          <p:cNvPr id="30" name="Text 23"/>
          <p:cNvSpPr/>
          <p:nvPr/>
        </p:nvSpPr>
        <p:spPr>
          <a:xfrm>
            <a:off x="1691640" y="5111496"/>
            <a:ext cx="4160520" cy="594360"/>
          </a:xfrm>
          <a:prstGeom prst="rect">
            <a:avLst/>
          </a:prstGeom>
          <a:noFill/>
          <a:ln/>
        </p:spPr>
        <p:txBody>
          <a:bodyPr wrap="square" rtlCol="0" anchor="ctr"/>
          <a:lstStyle/>
          <a:p>
            <a:pPr algn="l" indent="0" marL="0">
              <a:lnSpc>
                <a:spcPct val="100000"/>
              </a:lnSpc>
              <a:buNone/>
            </a:pPr>
            <a:r>
              <a:rPr lang="en-US" sz="1180" dirty="0">
                <a:solidFill>
                  <a:srgbClr val="475569"/>
                </a:solidFill>
                <a:latin typeface="Calibri" pitchFamily="34" charset="0"/>
                <a:ea typeface="Calibri" pitchFamily="34" charset="-122"/>
                <a:cs typeface="Calibri" pitchFamily="34" charset="-120"/>
              </a:rPr>
              <a:t>HttpOnly / SameSite cookies; ID regenerated.</a:t>
            </a:r>
            <a:endParaRPr lang="en-US" sz="1180" dirty="0"/>
          </a:p>
        </p:txBody>
      </p:sp>
      <p:sp>
        <p:nvSpPr>
          <p:cNvPr id="31" name="Shape 24"/>
          <p:cNvSpPr/>
          <p:nvPr/>
        </p:nvSpPr>
        <p:spPr>
          <a:xfrm>
            <a:off x="6217920" y="4562856"/>
            <a:ext cx="5394960" cy="1234440"/>
          </a:xfrm>
          <a:prstGeom prst="roundRect">
            <a:avLst>
              <a:gd name="adj" fmla="val 5185"/>
            </a:avLst>
          </a:prstGeom>
          <a:solidFill>
            <a:srgbClr val="F1F5F9"/>
          </a:solidFill>
          <a:ln/>
        </p:spPr>
      </p:sp>
      <p:sp>
        <p:nvSpPr>
          <p:cNvPr id="32" name="Shape 25"/>
          <p:cNvSpPr/>
          <p:nvPr/>
        </p:nvSpPr>
        <p:spPr>
          <a:xfrm>
            <a:off x="6473952" y="4882896"/>
            <a:ext cx="603504" cy="603504"/>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33" name="Image 5" descr="preencoded.png">    </p:cNvPr>
          <p:cNvPicPr>
            <a:picLocks noChangeAspect="1"/>
          </p:cNvPicPr>
          <p:nvPr/>
        </p:nvPicPr>
        <p:blipFill>
          <a:blip r:embed="rId6"/>
          <a:stretch>
            <a:fillRect/>
          </a:stretch>
        </p:blipFill>
        <p:spPr>
          <a:xfrm>
            <a:off x="6630863" y="5039807"/>
            <a:ext cx="289682" cy="289682"/>
          </a:xfrm>
          <a:prstGeom prst="rect">
            <a:avLst/>
          </a:prstGeom>
        </p:spPr>
      </p:pic>
      <p:sp>
        <p:nvSpPr>
          <p:cNvPr id="34" name="Text 26"/>
          <p:cNvSpPr/>
          <p:nvPr/>
        </p:nvSpPr>
        <p:spPr>
          <a:xfrm>
            <a:off x="7269480" y="4709160"/>
            <a:ext cx="4160520" cy="365760"/>
          </a:xfrm>
          <a:prstGeom prst="rect">
            <a:avLst/>
          </a:prstGeom>
          <a:noFill/>
          <a:ln/>
        </p:spPr>
        <p:txBody>
          <a:bodyPr wrap="square" rtlCol="0" anchor="ctr"/>
          <a:lstStyle/>
          <a:p>
            <a:pPr algn="l" indent="0" marL="0">
              <a:buNone/>
            </a:pPr>
            <a:r>
              <a:rPr lang="en-US" sz="1450" b="1" dirty="0">
                <a:solidFill>
                  <a:srgbClr val="12233B"/>
                </a:solidFill>
                <a:latin typeface="Cambria" pitchFamily="34" charset="0"/>
                <a:ea typeface="Cambria" pitchFamily="34" charset="-122"/>
                <a:cs typeface="Cambria" pitchFamily="34" charset="-120"/>
              </a:rPr>
              <a:t>Access control</a:t>
            </a:r>
            <a:endParaRPr lang="en-US" sz="1450" dirty="0"/>
          </a:p>
        </p:txBody>
      </p:sp>
      <p:sp>
        <p:nvSpPr>
          <p:cNvPr id="35" name="Text 27"/>
          <p:cNvSpPr/>
          <p:nvPr/>
        </p:nvSpPr>
        <p:spPr>
          <a:xfrm>
            <a:off x="7269480" y="5111496"/>
            <a:ext cx="4160520" cy="594360"/>
          </a:xfrm>
          <a:prstGeom prst="rect">
            <a:avLst/>
          </a:prstGeom>
          <a:noFill/>
          <a:ln/>
        </p:spPr>
        <p:txBody>
          <a:bodyPr wrap="square" rtlCol="0" anchor="ctr"/>
          <a:lstStyle/>
          <a:p>
            <a:pPr algn="l" indent="0" marL="0">
              <a:lnSpc>
                <a:spcPct val="100000"/>
              </a:lnSpc>
              <a:buNone/>
            </a:pPr>
            <a:r>
              <a:rPr lang="en-US" sz="1180" dirty="0">
                <a:solidFill>
                  <a:srgbClr val="475569"/>
                </a:solidFill>
                <a:latin typeface="Calibri" pitchFamily="34" charset="0"/>
                <a:ea typeface="Calibri" pitchFamily="34" charset="-122"/>
                <a:cs typeface="Calibri" pitchFamily="34" charset="-120"/>
              </a:rPr>
              <a:t>Page-level guards confine each role.</a:t>
            </a:r>
            <a:endParaRPr lang="en-US" sz="1180" dirty="0"/>
          </a:p>
        </p:txBody>
      </p:sp>
      <p:sp>
        <p:nvSpPr>
          <p:cNvPr id="36" name="Text 28"/>
          <p:cNvSpPr/>
          <p:nvPr/>
        </p:nvSpPr>
        <p:spPr>
          <a:xfrm>
            <a:off x="640080" y="6053328"/>
            <a:ext cx="10972800" cy="320040"/>
          </a:xfrm>
          <a:prstGeom prst="rect">
            <a:avLst/>
          </a:prstGeom>
          <a:noFill/>
          <a:ln/>
        </p:spPr>
        <p:txBody>
          <a:bodyPr wrap="square"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Validation runs on both sides: JavaScript for instant feedback, PHP as the authoritative safeguard.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INTERFACE &amp; EXPERIENCE</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Designed With Care</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640080" y="1783080"/>
            <a:ext cx="3611880" cy="4023360"/>
          </a:xfrm>
          <a:prstGeom prst="roundRect">
            <a:avLst>
              <a:gd name="adj" fmla="val 2025"/>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7" name="Shape 5"/>
          <p:cNvSpPr/>
          <p:nvPr/>
        </p:nvSpPr>
        <p:spPr>
          <a:xfrm>
            <a:off x="1805940" y="2240280"/>
            <a:ext cx="1280160" cy="1280160"/>
          </a:xfrm>
          <a:prstGeom prst="ellipse">
            <a:avLst/>
          </a:prstGeom>
          <a:solidFill>
            <a:srgbClr val="F0FDFA"/>
          </a:solidFill>
          <a:ln/>
        </p:spPr>
      </p:sp>
      <p:pic>
        <p:nvPicPr>
          <p:cNvPr id="8" name="Image 0" descr="preencoded.png">    </p:cNvPr>
          <p:cNvPicPr>
            <a:picLocks noChangeAspect="1"/>
          </p:cNvPicPr>
          <p:nvPr/>
        </p:nvPicPr>
        <p:blipFill>
          <a:blip r:embed="rId1"/>
          <a:stretch>
            <a:fillRect/>
          </a:stretch>
        </p:blipFill>
        <p:spPr>
          <a:xfrm>
            <a:off x="2034540" y="2468880"/>
            <a:ext cx="822960" cy="822960"/>
          </a:xfrm>
          <a:prstGeom prst="rect">
            <a:avLst/>
          </a:prstGeom>
        </p:spPr>
      </p:pic>
      <p:sp>
        <p:nvSpPr>
          <p:cNvPr id="9" name="Text 6"/>
          <p:cNvSpPr/>
          <p:nvPr/>
        </p:nvSpPr>
        <p:spPr>
          <a:xfrm>
            <a:off x="914400" y="3749040"/>
            <a:ext cx="3063240" cy="822960"/>
          </a:xfrm>
          <a:prstGeom prst="rect">
            <a:avLst/>
          </a:prstGeom>
          <a:noFill/>
          <a:ln/>
        </p:spPr>
        <p:txBody>
          <a:bodyPr wrap="square" rtlCol="0" anchor="t"/>
          <a:lstStyle/>
          <a:p>
            <a:pPr algn="ctr" indent="0" marL="0">
              <a:buNone/>
            </a:pPr>
            <a:r>
              <a:rPr lang="en-US" sz="1650" b="1" dirty="0">
                <a:solidFill>
                  <a:srgbClr val="12233B"/>
                </a:solidFill>
                <a:latin typeface="Cambria" pitchFamily="34" charset="0"/>
                <a:ea typeface="Cambria" pitchFamily="34" charset="-122"/>
                <a:cs typeface="Cambria" pitchFamily="34" charset="-120"/>
              </a:rPr>
              <a:t>Bespoke design system</a:t>
            </a:r>
            <a:endParaRPr lang="en-US" sz="1650" dirty="0"/>
          </a:p>
        </p:txBody>
      </p:sp>
      <p:sp>
        <p:nvSpPr>
          <p:cNvPr id="10" name="Text 7"/>
          <p:cNvSpPr/>
          <p:nvPr/>
        </p:nvSpPr>
        <p:spPr>
          <a:xfrm>
            <a:off x="1005840" y="4526280"/>
            <a:ext cx="2880360" cy="1188720"/>
          </a:xfrm>
          <a:prstGeom prst="rect">
            <a:avLst/>
          </a:prstGeom>
          <a:noFill/>
          <a:ln/>
        </p:spPr>
        <p:txBody>
          <a:bodyPr wrap="square" rtlCol="0" anchor="ctr"/>
          <a:lstStyle/>
          <a:p>
            <a:pPr algn="ctr" indent="0" marL="0">
              <a:lnSpc>
                <a:spcPct val="108000"/>
              </a:lnSpc>
              <a:buNone/>
            </a:pPr>
            <a:r>
              <a:rPr lang="en-US" sz="1250" dirty="0">
                <a:solidFill>
                  <a:srgbClr val="475569"/>
                </a:solidFill>
                <a:latin typeface="Calibri" pitchFamily="34" charset="0"/>
                <a:ea typeface="Calibri" pitchFamily="34" charset="-122"/>
                <a:cs typeface="Calibri" pitchFamily="34" charset="-120"/>
              </a:rPr>
              <a:t>A consistent palette, spacing, type and reusable components applied across every page.</a:t>
            </a:r>
            <a:endParaRPr lang="en-US" sz="1250" dirty="0"/>
          </a:p>
        </p:txBody>
      </p:sp>
      <p:sp>
        <p:nvSpPr>
          <p:cNvPr id="11" name="Shape 8"/>
          <p:cNvSpPr/>
          <p:nvPr/>
        </p:nvSpPr>
        <p:spPr>
          <a:xfrm>
            <a:off x="4507992" y="1783080"/>
            <a:ext cx="3611880" cy="4023360"/>
          </a:xfrm>
          <a:prstGeom prst="roundRect">
            <a:avLst>
              <a:gd name="adj" fmla="val 2025"/>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12" name="Shape 9"/>
          <p:cNvSpPr/>
          <p:nvPr/>
        </p:nvSpPr>
        <p:spPr>
          <a:xfrm>
            <a:off x="5673852" y="2240280"/>
            <a:ext cx="1280160" cy="1280160"/>
          </a:xfrm>
          <a:prstGeom prst="ellipse">
            <a:avLst/>
          </a:prstGeom>
          <a:solidFill>
            <a:srgbClr val="F0FDFA"/>
          </a:solidFill>
          <a:ln/>
        </p:spPr>
      </p:sp>
      <p:pic>
        <p:nvPicPr>
          <p:cNvPr id="13" name="Image 1" descr="preencoded.png">    </p:cNvPr>
          <p:cNvPicPr>
            <a:picLocks noChangeAspect="1"/>
          </p:cNvPicPr>
          <p:nvPr/>
        </p:nvPicPr>
        <p:blipFill>
          <a:blip r:embed="rId2"/>
          <a:stretch>
            <a:fillRect/>
          </a:stretch>
        </p:blipFill>
        <p:spPr>
          <a:xfrm>
            <a:off x="5902452" y="2468880"/>
            <a:ext cx="822960" cy="822960"/>
          </a:xfrm>
          <a:prstGeom prst="rect">
            <a:avLst/>
          </a:prstGeom>
        </p:spPr>
      </p:pic>
      <p:sp>
        <p:nvSpPr>
          <p:cNvPr id="14" name="Text 10"/>
          <p:cNvSpPr/>
          <p:nvPr/>
        </p:nvSpPr>
        <p:spPr>
          <a:xfrm>
            <a:off x="4782312" y="3749040"/>
            <a:ext cx="3063240" cy="822960"/>
          </a:xfrm>
          <a:prstGeom prst="rect">
            <a:avLst/>
          </a:prstGeom>
          <a:noFill/>
          <a:ln/>
        </p:spPr>
        <p:txBody>
          <a:bodyPr wrap="square" rtlCol="0" anchor="t"/>
          <a:lstStyle/>
          <a:p>
            <a:pPr algn="ctr" indent="0" marL="0">
              <a:buNone/>
            </a:pPr>
            <a:r>
              <a:rPr lang="en-US" sz="1650" b="1" dirty="0">
                <a:solidFill>
                  <a:srgbClr val="12233B"/>
                </a:solidFill>
                <a:latin typeface="Cambria" pitchFamily="34" charset="0"/>
                <a:ea typeface="Cambria" pitchFamily="34" charset="-122"/>
                <a:cs typeface="Cambria" pitchFamily="34" charset="-120"/>
              </a:rPr>
              <a:t>Fully responsive</a:t>
            </a:r>
            <a:endParaRPr lang="en-US" sz="1650" dirty="0"/>
          </a:p>
        </p:txBody>
      </p:sp>
      <p:sp>
        <p:nvSpPr>
          <p:cNvPr id="15" name="Text 11"/>
          <p:cNvSpPr/>
          <p:nvPr/>
        </p:nvSpPr>
        <p:spPr>
          <a:xfrm>
            <a:off x="4873752" y="4526280"/>
            <a:ext cx="2880360" cy="1188720"/>
          </a:xfrm>
          <a:prstGeom prst="rect">
            <a:avLst/>
          </a:prstGeom>
          <a:noFill/>
          <a:ln/>
        </p:spPr>
        <p:txBody>
          <a:bodyPr wrap="square" rtlCol="0" anchor="ctr"/>
          <a:lstStyle/>
          <a:p>
            <a:pPr algn="ctr" indent="0" marL="0">
              <a:lnSpc>
                <a:spcPct val="108000"/>
              </a:lnSpc>
              <a:buNone/>
            </a:pPr>
            <a:r>
              <a:rPr lang="en-US" sz="1250" dirty="0">
                <a:solidFill>
                  <a:srgbClr val="475569"/>
                </a:solidFill>
                <a:latin typeface="Calibri" pitchFamily="34" charset="0"/>
                <a:ea typeface="Calibri" pitchFamily="34" charset="-122"/>
                <a:cs typeface="Calibri" pitchFamily="34" charset="-120"/>
              </a:rPr>
              <a:t>From a wide desktop dashboard to a single-column mobile layout with a collapsible menu.</a:t>
            </a:r>
            <a:endParaRPr lang="en-US" sz="1250" dirty="0"/>
          </a:p>
        </p:txBody>
      </p:sp>
      <p:sp>
        <p:nvSpPr>
          <p:cNvPr id="16" name="Shape 12"/>
          <p:cNvSpPr/>
          <p:nvPr/>
        </p:nvSpPr>
        <p:spPr>
          <a:xfrm>
            <a:off x="8375904" y="1783080"/>
            <a:ext cx="3611880" cy="4023360"/>
          </a:xfrm>
          <a:prstGeom prst="roundRect">
            <a:avLst>
              <a:gd name="adj" fmla="val 2025"/>
            </a:avLst>
          </a:prstGeom>
          <a:solidFill>
            <a:srgbClr val="FFFFFF"/>
          </a:solidFill>
          <a:ln w="12700">
            <a:solidFill>
              <a:srgbClr val="F1F5F9"/>
            </a:solidFill>
            <a:prstDash val="solid"/>
          </a:ln>
          <a:effectLst>
            <a:outerShdw sx="100000" sy="100000" kx="0" ky="0" algn="bl" rotWithShape="0" blurRad="114300" dist="38100" dir="5400000">
              <a:srgbClr val="1E293B">
                <a:alpha val="16000"/>
              </a:srgbClr>
            </a:outerShdw>
          </a:effectLst>
        </p:spPr>
      </p:sp>
      <p:sp>
        <p:nvSpPr>
          <p:cNvPr id="17" name="Shape 13"/>
          <p:cNvSpPr/>
          <p:nvPr/>
        </p:nvSpPr>
        <p:spPr>
          <a:xfrm>
            <a:off x="9541764" y="2240280"/>
            <a:ext cx="1280160" cy="1280160"/>
          </a:xfrm>
          <a:prstGeom prst="ellipse">
            <a:avLst/>
          </a:prstGeom>
          <a:solidFill>
            <a:srgbClr val="F0FDFA"/>
          </a:solidFill>
          <a:ln/>
        </p:spPr>
      </p:sp>
      <p:pic>
        <p:nvPicPr>
          <p:cNvPr id="18" name="Image 2" descr="preencoded.png">    </p:cNvPr>
          <p:cNvPicPr>
            <a:picLocks noChangeAspect="1"/>
          </p:cNvPicPr>
          <p:nvPr/>
        </p:nvPicPr>
        <p:blipFill>
          <a:blip r:embed="rId3"/>
          <a:stretch>
            <a:fillRect/>
          </a:stretch>
        </p:blipFill>
        <p:spPr>
          <a:xfrm>
            <a:off x="9770364" y="2468880"/>
            <a:ext cx="822960" cy="822960"/>
          </a:xfrm>
          <a:prstGeom prst="rect">
            <a:avLst/>
          </a:prstGeom>
        </p:spPr>
      </p:pic>
      <p:sp>
        <p:nvSpPr>
          <p:cNvPr id="19" name="Text 14"/>
          <p:cNvSpPr/>
          <p:nvPr/>
        </p:nvSpPr>
        <p:spPr>
          <a:xfrm>
            <a:off x="8650224" y="3749040"/>
            <a:ext cx="3063240" cy="822960"/>
          </a:xfrm>
          <a:prstGeom prst="rect">
            <a:avLst/>
          </a:prstGeom>
          <a:noFill/>
          <a:ln/>
        </p:spPr>
        <p:txBody>
          <a:bodyPr wrap="square" rtlCol="0" anchor="t"/>
          <a:lstStyle/>
          <a:p>
            <a:pPr algn="ctr" indent="0" marL="0">
              <a:buNone/>
            </a:pPr>
            <a:r>
              <a:rPr lang="en-US" sz="1650" b="1" dirty="0">
                <a:solidFill>
                  <a:srgbClr val="12233B"/>
                </a:solidFill>
                <a:latin typeface="Cambria" pitchFamily="34" charset="0"/>
                <a:ea typeface="Cambria" pitchFamily="34" charset="-122"/>
                <a:cs typeface="Cambria" pitchFamily="34" charset="-120"/>
              </a:rPr>
              <a:t>Light &amp; dark modes</a:t>
            </a:r>
            <a:endParaRPr lang="en-US" sz="1650" dirty="0"/>
          </a:p>
        </p:txBody>
      </p:sp>
      <p:sp>
        <p:nvSpPr>
          <p:cNvPr id="20" name="Text 15"/>
          <p:cNvSpPr/>
          <p:nvPr/>
        </p:nvSpPr>
        <p:spPr>
          <a:xfrm>
            <a:off x="8741664" y="4526280"/>
            <a:ext cx="2880360" cy="1188720"/>
          </a:xfrm>
          <a:prstGeom prst="rect">
            <a:avLst/>
          </a:prstGeom>
          <a:noFill/>
          <a:ln/>
        </p:spPr>
        <p:txBody>
          <a:bodyPr wrap="square" rtlCol="0" anchor="ctr"/>
          <a:lstStyle/>
          <a:p>
            <a:pPr algn="ctr" indent="0" marL="0">
              <a:lnSpc>
                <a:spcPct val="108000"/>
              </a:lnSpc>
              <a:buNone/>
            </a:pPr>
            <a:r>
              <a:rPr lang="en-US" sz="1250" dirty="0">
                <a:solidFill>
                  <a:srgbClr val="475569"/>
                </a:solidFill>
                <a:latin typeface="Calibri" pitchFamily="34" charset="0"/>
                <a:ea typeface="Calibri" pitchFamily="34" charset="-122"/>
                <a:cs typeface="Calibri" pitchFamily="34" charset="-120"/>
              </a:rPr>
              <a:t>Animated stats, hover effects, scroll transitions and a live password-strength meter.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rtlCol="0" anchor="ctr"/>
          <a:lstStyle/>
          <a:p>
            <a:pPr algn="l" indent="0" marL="0">
              <a:buNone/>
            </a:pPr>
            <a:r>
              <a:rPr lang="en-US" sz="1250" b="1" spc="300" kern="0" dirty="0">
                <a:solidFill>
                  <a:srgbClr val="14B8A6"/>
                </a:solidFill>
                <a:latin typeface="Calibri" pitchFamily="34" charset="0"/>
                <a:ea typeface="Calibri" pitchFamily="34" charset="-122"/>
                <a:cs typeface="Calibri" pitchFamily="34" charset="-120"/>
              </a:rPr>
              <a:t>SIGNIFICANCE</a:t>
            </a:r>
            <a:endParaRPr lang="en-US" sz="1250" dirty="0"/>
          </a:p>
        </p:txBody>
      </p:sp>
      <p:sp>
        <p:nvSpPr>
          <p:cNvPr id="3" name="Text 1"/>
          <p:cNvSpPr/>
          <p:nvPr/>
        </p:nvSpPr>
        <p:spPr>
          <a:xfrm>
            <a:off x="640080" y="658368"/>
            <a:ext cx="10972800" cy="685800"/>
          </a:xfrm>
          <a:prstGeom prst="rect">
            <a:avLst/>
          </a:prstGeom>
          <a:noFill/>
          <a:ln/>
        </p:spPr>
        <p:txBody>
          <a:bodyPr wrap="square" rtlCol="0" anchor="ctr"/>
          <a:lstStyle/>
          <a:p>
            <a:pPr algn="l" indent="0" marL="0">
              <a:buNone/>
            </a:pPr>
            <a:r>
              <a:rPr lang="en-US" sz="3100" b="1" dirty="0">
                <a:solidFill>
                  <a:srgbClr val="12233B"/>
                </a:solidFill>
                <a:latin typeface="Cambria" pitchFamily="34" charset="0"/>
                <a:ea typeface="Cambria" pitchFamily="34" charset="-122"/>
                <a:cs typeface="Cambria" pitchFamily="34" charset="-120"/>
              </a:rPr>
              <a:t>What Sets SmartShelf Apart</a:t>
            </a:r>
            <a:endParaRPr lang="en-US" sz="3100" dirty="0"/>
          </a:p>
        </p:txBody>
      </p:sp>
      <p:sp>
        <p:nvSpPr>
          <p:cNvPr id="4" name="Text 2"/>
          <p:cNvSpPr/>
          <p:nvPr/>
        </p:nvSpPr>
        <p:spPr>
          <a:xfrm>
            <a:off x="640080" y="6455664"/>
            <a:ext cx="7315200" cy="274320"/>
          </a:xfrm>
          <a:prstGeom prst="rect">
            <a:avLst/>
          </a:prstGeom>
          <a:noFill/>
          <a:ln/>
        </p:spPr>
        <p:txBody>
          <a:bodyPr wrap="square" rtlCol="0" anchor="ctr"/>
          <a:lstStyle/>
          <a:p>
            <a:pPr algn="l" indent="0" marL="0">
              <a:buNone/>
            </a:pPr>
            <a:r>
              <a:rPr lang="en-US" sz="950" b="1" dirty="0">
                <a:solidFill>
                  <a:srgbClr val="0F766E"/>
                </a:solidFill>
                <a:latin typeface="Calibri" pitchFamily="34" charset="0"/>
                <a:ea typeface="Calibri" pitchFamily="34" charset="-122"/>
                <a:cs typeface="Calibri" pitchFamily="34" charset="-120"/>
              </a:rPr>
              <a:t>SmartShelf</a:t>
            </a:r>
            <a:pPr algn="l" indent="0" marL="0">
              <a:buNone/>
            </a:pPr>
            <a:r>
              <a:rPr lang="en-US" sz="950" dirty="0">
                <a:solidFill>
                  <a:srgbClr val="94A3B8"/>
                </a:solidFill>
                <a:latin typeface="Calibri" pitchFamily="34" charset="0"/>
                <a:ea typeface="Calibri" pitchFamily="34" charset="-122"/>
                <a:cs typeface="Calibri" pitchFamily="34" charset="-120"/>
              </a:rPr>
              <a:t>  ·  Library Management System</a:t>
            </a:r>
            <a:endParaRPr lang="en-US" sz="950" dirty="0"/>
          </a:p>
        </p:txBody>
      </p:sp>
      <p:sp>
        <p:nvSpPr>
          <p:cNvPr id="5" name="Text 3"/>
          <p:cNvSpPr/>
          <p:nvPr/>
        </p:nvSpPr>
        <p:spPr>
          <a:xfrm>
            <a:off x="11155680" y="6455664"/>
            <a:ext cx="457200" cy="274320"/>
          </a:xfrm>
          <a:prstGeom prst="rect">
            <a:avLst/>
          </a:prstGeom>
          <a:noFill/>
          <a:ln/>
        </p:spPr>
        <p:txBody>
          <a:bodyPr wrap="square"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14</a:t>
            </a:r>
            <a:endParaRPr lang="en-US" sz="950" dirty="0"/>
          </a:p>
        </p:txBody>
      </p:sp>
      <p:sp>
        <p:nvSpPr>
          <p:cNvPr id="6" name="Shape 4"/>
          <p:cNvSpPr/>
          <p:nvPr/>
        </p:nvSpPr>
        <p:spPr>
          <a:xfrm>
            <a:off x="640080" y="1828800"/>
            <a:ext cx="3611880" cy="2743200"/>
          </a:xfrm>
          <a:prstGeom prst="roundRect">
            <a:avLst>
              <a:gd name="adj" fmla="val 2667"/>
            </a:avLst>
          </a:prstGeom>
          <a:solidFill>
            <a:srgbClr val="F0FDFA"/>
          </a:solidFill>
          <a:ln/>
          <a:effectLst>
            <a:outerShdw sx="100000" sy="100000" kx="0" ky="0" algn="bl" rotWithShape="0" blurRad="114300" dist="38100" dir="5400000">
              <a:srgbClr val="1E293B">
                <a:alpha val="16000"/>
              </a:srgbClr>
            </a:outerShdw>
          </a:effectLst>
        </p:spPr>
      </p:sp>
      <p:sp>
        <p:nvSpPr>
          <p:cNvPr id="7" name="Shape 5"/>
          <p:cNvSpPr/>
          <p:nvPr/>
        </p:nvSpPr>
        <p:spPr>
          <a:xfrm>
            <a:off x="1988820" y="2194560"/>
            <a:ext cx="914400" cy="91440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8" name="Image 0" descr="preencoded.png">    </p:cNvPr>
          <p:cNvPicPr>
            <a:picLocks noChangeAspect="1"/>
          </p:cNvPicPr>
          <p:nvPr/>
        </p:nvPicPr>
        <p:blipFill>
          <a:blip r:embed="rId1"/>
          <a:stretch>
            <a:fillRect/>
          </a:stretch>
        </p:blipFill>
        <p:spPr>
          <a:xfrm>
            <a:off x="2226564" y="2432304"/>
            <a:ext cx="438912" cy="438912"/>
          </a:xfrm>
          <a:prstGeom prst="rect">
            <a:avLst/>
          </a:prstGeom>
        </p:spPr>
      </p:pic>
      <p:sp>
        <p:nvSpPr>
          <p:cNvPr id="9" name="Text 6"/>
          <p:cNvSpPr/>
          <p:nvPr/>
        </p:nvSpPr>
        <p:spPr>
          <a:xfrm>
            <a:off x="914400" y="3246120"/>
            <a:ext cx="3063240" cy="457200"/>
          </a:xfrm>
          <a:prstGeom prst="rect">
            <a:avLst/>
          </a:prstGeom>
          <a:noFill/>
          <a:ln/>
        </p:spPr>
        <p:txBody>
          <a:bodyPr wrap="square" rtlCol="0" anchor="ctr"/>
          <a:lstStyle/>
          <a:p>
            <a:pPr algn="ctr" indent="0" marL="0">
              <a:buNone/>
            </a:pPr>
            <a:r>
              <a:rPr lang="en-US" sz="1650" b="1" dirty="0">
                <a:solidFill>
                  <a:srgbClr val="12233B"/>
                </a:solidFill>
                <a:latin typeface="Cambria" pitchFamily="34" charset="0"/>
                <a:ea typeface="Cambria" pitchFamily="34" charset="-122"/>
                <a:cs typeface="Cambria" pitchFamily="34" charset="-120"/>
              </a:rPr>
              <a:t>Complete &amp; working</a:t>
            </a:r>
            <a:endParaRPr lang="en-US" sz="1650" dirty="0"/>
          </a:p>
        </p:txBody>
      </p:sp>
      <p:sp>
        <p:nvSpPr>
          <p:cNvPr id="10" name="Text 7"/>
          <p:cNvSpPr/>
          <p:nvPr/>
        </p:nvSpPr>
        <p:spPr>
          <a:xfrm>
            <a:off x="960120" y="3703320"/>
            <a:ext cx="2971800" cy="777240"/>
          </a:xfrm>
          <a:prstGeom prst="rect">
            <a:avLst/>
          </a:prstGeom>
          <a:noFill/>
          <a:ln/>
        </p:spPr>
        <p:txBody>
          <a:bodyPr wrap="square" rtlCol="0" anchor="ctr"/>
          <a:lstStyle/>
          <a:p>
            <a:pPr algn="ctr" indent="0" marL="0">
              <a:lnSpc>
                <a:spcPct val="105000"/>
              </a:lnSpc>
              <a:buNone/>
            </a:pPr>
            <a:r>
              <a:rPr lang="en-US" sz="1250" dirty="0">
                <a:solidFill>
                  <a:srgbClr val="475569"/>
                </a:solidFill>
                <a:latin typeface="Calibri" pitchFamily="34" charset="0"/>
                <a:ea typeface="Calibri" pitchFamily="34" charset="-122"/>
                <a:cs typeface="Calibri" pitchFamily="34" charset="-120"/>
              </a:rPr>
              <a:t>No placeholders — every function runs in a standard XAMPP setup.</a:t>
            </a:r>
            <a:endParaRPr lang="en-US" sz="1250" dirty="0"/>
          </a:p>
        </p:txBody>
      </p:sp>
      <p:sp>
        <p:nvSpPr>
          <p:cNvPr id="11" name="Shape 8"/>
          <p:cNvSpPr/>
          <p:nvPr/>
        </p:nvSpPr>
        <p:spPr>
          <a:xfrm>
            <a:off x="4507992" y="1828800"/>
            <a:ext cx="3611880" cy="2743200"/>
          </a:xfrm>
          <a:prstGeom prst="roundRect">
            <a:avLst>
              <a:gd name="adj" fmla="val 2667"/>
            </a:avLst>
          </a:prstGeom>
          <a:solidFill>
            <a:srgbClr val="F0FDFA"/>
          </a:solidFill>
          <a:ln/>
          <a:effectLst>
            <a:outerShdw sx="100000" sy="100000" kx="0" ky="0" algn="bl" rotWithShape="0" blurRad="114300" dist="38100" dir="5400000">
              <a:srgbClr val="1E293B">
                <a:alpha val="16000"/>
              </a:srgbClr>
            </a:outerShdw>
          </a:effectLst>
        </p:spPr>
      </p:sp>
      <p:sp>
        <p:nvSpPr>
          <p:cNvPr id="12" name="Shape 9"/>
          <p:cNvSpPr/>
          <p:nvPr/>
        </p:nvSpPr>
        <p:spPr>
          <a:xfrm>
            <a:off x="5856732" y="2194560"/>
            <a:ext cx="914400" cy="91440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3" name="Image 1" descr="preencoded.png">    </p:cNvPr>
          <p:cNvPicPr>
            <a:picLocks noChangeAspect="1"/>
          </p:cNvPicPr>
          <p:nvPr/>
        </p:nvPicPr>
        <p:blipFill>
          <a:blip r:embed="rId2"/>
          <a:stretch>
            <a:fillRect/>
          </a:stretch>
        </p:blipFill>
        <p:spPr>
          <a:xfrm>
            <a:off x="6094476" y="2432304"/>
            <a:ext cx="438912" cy="438912"/>
          </a:xfrm>
          <a:prstGeom prst="rect">
            <a:avLst/>
          </a:prstGeom>
        </p:spPr>
      </p:pic>
      <p:sp>
        <p:nvSpPr>
          <p:cNvPr id="14" name="Text 10"/>
          <p:cNvSpPr/>
          <p:nvPr/>
        </p:nvSpPr>
        <p:spPr>
          <a:xfrm>
            <a:off x="4782312" y="3246120"/>
            <a:ext cx="3063240" cy="457200"/>
          </a:xfrm>
          <a:prstGeom prst="rect">
            <a:avLst/>
          </a:prstGeom>
          <a:noFill/>
          <a:ln/>
        </p:spPr>
        <p:txBody>
          <a:bodyPr wrap="square" rtlCol="0" anchor="ctr"/>
          <a:lstStyle/>
          <a:p>
            <a:pPr algn="ctr" indent="0" marL="0">
              <a:buNone/>
            </a:pPr>
            <a:r>
              <a:rPr lang="en-US" sz="1650" b="1" dirty="0">
                <a:solidFill>
                  <a:srgbClr val="12233B"/>
                </a:solidFill>
                <a:latin typeface="Cambria" pitchFamily="34" charset="0"/>
                <a:ea typeface="Cambria" pitchFamily="34" charset="-122"/>
                <a:cs typeface="Cambria" pitchFamily="34" charset="-120"/>
              </a:rPr>
              <a:t>Beyond requirements</a:t>
            </a:r>
            <a:endParaRPr lang="en-US" sz="1650" dirty="0"/>
          </a:p>
        </p:txBody>
      </p:sp>
      <p:sp>
        <p:nvSpPr>
          <p:cNvPr id="15" name="Text 11"/>
          <p:cNvSpPr/>
          <p:nvPr/>
        </p:nvSpPr>
        <p:spPr>
          <a:xfrm>
            <a:off x="4828032" y="3703320"/>
            <a:ext cx="2971800" cy="777240"/>
          </a:xfrm>
          <a:prstGeom prst="rect">
            <a:avLst/>
          </a:prstGeom>
          <a:noFill/>
          <a:ln/>
        </p:spPr>
        <p:txBody>
          <a:bodyPr wrap="square" rtlCol="0" anchor="ctr"/>
          <a:lstStyle/>
          <a:p>
            <a:pPr algn="ctr" indent="0" marL="0">
              <a:lnSpc>
                <a:spcPct val="105000"/>
              </a:lnSpc>
              <a:buNone/>
            </a:pPr>
            <a:r>
              <a:rPr lang="en-US" sz="1250" dirty="0">
                <a:solidFill>
                  <a:srgbClr val="475569"/>
                </a:solidFill>
                <a:latin typeface="Calibri" pitchFamily="34" charset="0"/>
                <a:ea typeface="Calibri" pitchFamily="34" charset="-122"/>
                <a:cs typeface="Calibri" pitchFamily="34" charset="-120"/>
              </a:rPr>
              <a:t>Adds QR codes, recommendations and a digital library.</a:t>
            </a:r>
            <a:endParaRPr lang="en-US" sz="1250" dirty="0"/>
          </a:p>
        </p:txBody>
      </p:sp>
      <p:sp>
        <p:nvSpPr>
          <p:cNvPr id="16" name="Shape 12"/>
          <p:cNvSpPr/>
          <p:nvPr/>
        </p:nvSpPr>
        <p:spPr>
          <a:xfrm>
            <a:off x="8375904" y="1828800"/>
            <a:ext cx="3611880" cy="2743200"/>
          </a:xfrm>
          <a:prstGeom prst="roundRect">
            <a:avLst>
              <a:gd name="adj" fmla="val 2667"/>
            </a:avLst>
          </a:prstGeom>
          <a:solidFill>
            <a:srgbClr val="F0FDFA"/>
          </a:solidFill>
          <a:ln/>
          <a:effectLst>
            <a:outerShdw sx="100000" sy="100000" kx="0" ky="0" algn="bl" rotWithShape="0" blurRad="114300" dist="38100" dir="5400000">
              <a:srgbClr val="1E293B">
                <a:alpha val="16000"/>
              </a:srgbClr>
            </a:outerShdw>
          </a:effectLst>
        </p:spPr>
      </p:sp>
      <p:sp>
        <p:nvSpPr>
          <p:cNvPr id="17" name="Shape 13"/>
          <p:cNvSpPr/>
          <p:nvPr/>
        </p:nvSpPr>
        <p:spPr>
          <a:xfrm>
            <a:off x="9724644" y="2194560"/>
            <a:ext cx="914400" cy="914400"/>
          </a:xfrm>
          <a:prstGeom prst="ellipse">
            <a:avLst/>
          </a:prstGeom>
          <a:solidFill>
            <a:srgbClr val="FFFFFF"/>
          </a:solidFill>
          <a:ln/>
          <a:effectLst>
            <a:outerShdw sx="100000" sy="100000" kx="0" ky="0" algn="bl" rotWithShape="0" blurRad="114300" dist="38100" dir="5400000">
              <a:srgbClr val="1E293B">
                <a:alpha val="16000"/>
              </a:srgbClr>
            </a:outerShdw>
          </a:effectLst>
        </p:spPr>
      </p:sp>
      <p:pic>
        <p:nvPicPr>
          <p:cNvPr id="18" name="Image 2" descr="preencoded.png">    </p:cNvPr>
          <p:cNvPicPr>
            <a:picLocks noChangeAspect="1"/>
          </p:cNvPicPr>
          <p:nvPr/>
        </p:nvPicPr>
        <p:blipFill>
          <a:blip r:embed="rId3"/>
          <a:stretch>
            <a:fillRect/>
          </a:stretch>
        </p:blipFill>
        <p:spPr>
          <a:xfrm>
            <a:off x="9962388" y="2432304"/>
            <a:ext cx="438912" cy="438912"/>
          </a:xfrm>
          <a:prstGeom prst="rect">
            <a:avLst/>
          </a:prstGeom>
        </p:spPr>
      </p:pic>
      <p:sp>
        <p:nvSpPr>
          <p:cNvPr id="19" name="Text 14"/>
          <p:cNvSpPr/>
          <p:nvPr/>
        </p:nvSpPr>
        <p:spPr>
          <a:xfrm>
            <a:off x="8650224" y="3246120"/>
            <a:ext cx="3063240" cy="457200"/>
          </a:xfrm>
          <a:prstGeom prst="rect">
            <a:avLst/>
          </a:prstGeom>
          <a:noFill/>
          <a:ln/>
        </p:spPr>
        <p:txBody>
          <a:bodyPr wrap="square" rtlCol="0" anchor="ctr"/>
          <a:lstStyle/>
          <a:p>
            <a:pPr algn="ctr" indent="0" marL="0">
              <a:buNone/>
            </a:pPr>
            <a:r>
              <a:rPr lang="en-US" sz="1650" b="1" dirty="0">
                <a:solidFill>
                  <a:srgbClr val="12233B"/>
                </a:solidFill>
                <a:latin typeface="Cambria" pitchFamily="34" charset="0"/>
                <a:ea typeface="Cambria" pitchFamily="34" charset="-122"/>
                <a:cs typeface="Cambria" pitchFamily="34" charset="-120"/>
              </a:rPr>
              <a:t>End-to-end tested</a:t>
            </a:r>
            <a:endParaRPr lang="en-US" sz="1650" dirty="0"/>
          </a:p>
        </p:txBody>
      </p:sp>
      <p:sp>
        <p:nvSpPr>
          <p:cNvPr id="20" name="Text 15"/>
          <p:cNvSpPr/>
          <p:nvPr/>
        </p:nvSpPr>
        <p:spPr>
          <a:xfrm>
            <a:off x="8695944" y="3703320"/>
            <a:ext cx="2971800" cy="777240"/>
          </a:xfrm>
          <a:prstGeom prst="rect">
            <a:avLst/>
          </a:prstGeom>
          <a:noFill/>
          <a:ln/>
        </p:spPr>
        <p:txBody>
          <a:bodyPr wrap="square" rtlCol="0" anchor="ctr"/>
          <a:lstStyle/>
          <a:p>
            <a:pPr algn="ctr" indent="0" marL="0">
              <a:lnSpc>
                <a:spcPct val="105000"/>
              </a:lnSpc>
              <a:buNone/>
            </a:pPr>
            <a:r>
              <a:rPr lang="en-US" sz="1250" dirty="0">
                <a:solidFill>
                  <a:srgbClr val="475569"/>
                </a:solidFill>
                <a:latin typeface="Calibri" pitchFamily="34" charset="0"/>
                <a:ea typeface="Calibri" pitchFamily="34" charset="-122"/>
                <a:cs typeface="Calibri" pitchFamily="34" charset="-120"/>
              </a:rPr>
              <a:t>Verified against a live database, from login to reporting.</a:t>
            </a:r>
            <a:endParaRPr lang="en-US" sz="1250" dirty="0"/>
          </a:p>
        </p:txBody>
      </p:sp>
      <p:sp>
        <p:nvSpPr>
          <p:cNvPr id="21" name="Shape 16"/>
          <p:cNvSpPr/>
          <p:nvPr/>
        </p:nvSpPr>
        <p:spPr>
          <a:xfrm>
            <a:off x="640080" y="4983480"/>
            <a:ext cx="10899648" cy="1005840"/>
          </a:xfrm>
          <a:prstGeom prst="roundRect">
            <a:avLst>
              <a:gd name="adj" fmla="val 7273"/>
            </a:avLst>
          </a:prstGeom>
          <a:solidFill>
            <a:srgbClr val="12233B"/>
          </a:solidFill>
          <a:ln/>
        </p:spPr>
      </p:sp>
      <p:sp>
        <p:nvSpPr>
          <p:cNvPr id="22" name="Text 17"/>
          <p:cNvSpPr/>
          <p:nvPr/>
        </p:nvSpPr>
        <p:spPr>
          <a:xfrm>
            <a:off x="1005840" y="4983480"/>
            <a:ext cx="10149840" cy="1005840"/>
          </a:xfrm>
          <a:prstGeom prst="rect">
            <a:avLst/>
          </a:prstGeom>
          <a:noFill/>
          <a:ln/>
        </p:spPr>
        <p:txBody>
          <a:bodyPr wrap="square" rtlCol="0" anchor="ctr"/>
          <a:lstStyle/>
          <a:p>
            <a:pPr algn="ctr" indent="0" marL="0">
              <a:buNone/>
            </a:pPr>
            <a:r>
              <a:rPr lang="en-US" sz="1500" i="1" dirty="0">
                <a:solidFill>
                  <a:srgbClr val="CCFBF1"/>
                </a:solidFill>
                <a:latin typeface="Cambria" pitchFamily="34" charset="0"/>
                <a:ea typeface="Cambria" pitchFamily="34" charset="-122"/>
                <a:cs typeface="Cambria" pitchFamily="34" charset="-120"/>
              </a:rPr>
              <a:t>“Complete, secure and responsive — ready to be deployed in a real library, not a demonstration that stops at the surface.”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33B"/>
        </a:solidFill>
      </p:bgPr>
    </p:bg>
    <p:spTree>
      <p:nvGrpSpPr>
        <p:cNvPr id="1" name=""/>
        <p:cNvGrpSpPr/>
        <p:nvPr/>
      </p:nvGrpSpPr>
      <p:grpSpPr>
        <a:xfrm>
          <a:off x="0" y="0"/>
          <a:ext cx="0" cy="0"/>
          <a:chOff x="0" y="0"/>
          <a:chExt cx="0" cy="0"/>
        </a:xfrm>
      </p:grpSpPr>
      <p:sp>
        <p:nvSpPr>
          <p:cNvPr id="2" name="Shape 0"/>
          <p:cNvSpPr/>
          <p:nvPr/>
        </p:nvSpPr>
        <p:spPr>
          <a:xfrm>
            <a:off x="-1371600" y="-1371600"/>
            <a:ext cx="4206240" cy="4206240"/>
          </a:xfrm>
          <a:prstGeom prst="ellipse">
            <a:avLst/>
          </a:prstGeom>
          <a:solidFill>
            <a:srgbClr val="0F766E">
              <a:alpha val="20000"/>
            </a:srgbClr>
          </a:solidFill>
          <a:ln/>
        </p:spPr>
      </p:sp>
      <p:sp>
        <p:nvSpPr>
          <p:cNvPr id="3" name="Shape 1"/>
          <p:cNvSpPr/>
          <p:nvPr/>
        </p:nvSpPr>
        <p:spPr>
          <a:xfrm>
            <a:off x="10058400" y="4206240"/>
            <a:ext cx="3840480" cy="3840480"/>
          </a:xfrm>
          <a:prstGeom prst="ellipse">
            <a:avLst/>
          </a:prstGeom>
          <a:solidFill>
            <a:srgbClr val="14B8A6">
              <a:alpha val="16000"/>
            </a:srgbClr>
          </a:solidFill>
          <a:ln/>
        </p:spPr>
      </p:sp>
      <p:sp>
        <p:nvSpPr>
          <p:cNvPr id="4" name="Shape 2"/>
          <p:cNvSpPr/>
          <p:nvPr/>
        </p:nvSpPr>
        <p:spPr>
          <a:xfrm>
            <a:off x="822960" y="1051560"/>
            <a:ext cx="960120" cy="960120"/>
          </a:xfrm>
          <a:prstGeom prst="ellipse">
            <a:avLst/>
          </a:prstGeom>
          <a:solidFill>
            <a:srgbClr val="0F766E"/>
          </a:solidFill>
          <a:ln/>
          <a:effectLst>
            <a:outerShdw sx="100000" sy="100000" kx="0" ky="0" algn="bl" rotWithShape="0" blurRad="114300" dist="38100" dir="5400000">
              <a:srgbClr val="1E293B">
                <a:alpha val="16000"/>
              </a:srgbClr>
            </a:outerShdw>
          </a:effectLst>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777240" y="2148840"/>
            <a:ext cx="10058400" cy="822960"/>
          </a:xfrm>
          <a:prstGeom prst="rect">
            <a:avLst/>
          </a:prstGeom>
          <a:noFill/>
          <a:ln/>
        </p:spPr>
        <p:txBody>
          <a:bodyPr wrap="square"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Conclusion</a:t>
            </a:r>
            <a:endParaRPr lang="en-US" sz="4600" dirty="0"/>
          </a:p>
        </p:txBody>
      </p:sp>
      <p:sp>
        <p:nvSpPr>
          <p:cNvPr id="7" name="Text 4"/>
          <p:cNvSpPr/>
          <p:nvPr/>
        </p:nvSpPr>
        <p:spPr>
          <a:xfrm>
            <a:off x="822960" y="3200400"/>
            <a:ext cx="9692640" cy="1371600"/>
          </a:xfrm>
          <a:prstGeom prst="rect">
            <a:avLst/>
          </a:prstGeom>
          <a:noFill/>
          <a:ln/>
        </p:spPr>
        <p:txBody>
          <a:bodyPr wrap="square" rtlCol="0" anchor="ctr"/>
          <a:lstStyle/>
          <a:p>
            <a:pPr algn="l" indent="0" marL="0">
              <a:lnSpc>
                <a:spcPct val="120000"/>
              </a:lnSpc>
              <a:buNone/>
            </a:pPr>
            <a:r>
              <a:rPr lang="en-US" sz="1700" dirty="0">
                <a:solidFill>
                  <a:srgbClr val="CCFBF1"/>
                </a:solidFill>
                <a:latin typeface="Calibri" pitchFamily="34" charset="0"/>
                <a:ea typeface="Calibri" pitchFamily="34" charset="-122"/>
                <a:cs typeface="Calibri" pitchFamily="34" charset="-120"/>
              </a:rPr>
              <a:t>SmartShelf replaces slow, manual routine with a single, secure and responsive application — meeting every requirement and going beyond them with modern, thoughtfully chosen features.</a:t>
            </a:r>
            <a:endParaRPr lang="en-US" sz="1700" dirty="0"/>
          </a:p>
        </p:txBody>
      </p:sp>
      <p:sp>
        <p:nvSpPr>
          <p:cNvPr id="8" name="Shape 5"/>
          <p:cNvSpPr/>
          <p:nvPr/>
        </p:nvSpPr>
        <p:spPr>
          <a:xfrm>
            <a:off x="841248" y="4709160"/>
            <a:ext cx="2743200" cy="0"/>
          </a:xfrm>
          <a:prstGeom prst="line">
            <a:avLst/>
          </a:prstGeom>
          <a:noFill/>
          <a:ln w="31750">
            <a:solidFill>
              <a:srgbClr val="D97706"/>
            </a:solidFill>
            <a:prstDash val="solid"/>
          </a:ln>
        </p:spPr>
      </p:sp>
      <p:sp>
        <p:nvSpPr>
          <p:cNvPr id="9" name="Text 6"/>
          <p:cNvSpPr/>
          <p:nvPr/>
        </p:nvSpPr>
        <p:spPr>
          <a:xfrm>
            <a:off x="822960" y="4937760"/>
            <a:ext cx="10058400" cy="548640"/>
          </a:xfrm>
          <a:prstGeom prst="rect">
            <a:avLst/>
          </a:prstGeom>
          <a:noFill/>
          <a:ln/>
        </p:spPr>
        <p:txBody>
          <a:bodyPr wrap="square"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Thank you — questions welcome.</a:t>
            </a:r>
            <a:endParaRPr lang="en-US" sz="2200" dirty="0"/>
          </a:p>
        </p:txBody>
      </p:sp>
      <p:sp>
        <p:nvSpPr>
          <p:cNvPr id="10" name="Text 7"/>
          <p:cNvSpPr/>
          <p:nvPr/>
        </p:nvSpPr>
        <p:spPr>
          <a:xfrm>
            <a:off x="822960" y="6035040"/>
            <a:ext cx="10515600" cy="365760"/>
          </a:xfrm>
          <a:prstGeom prst="rect">
            <a:avLst/>
          </a:prstGeom>
          <a:noFill/>
          <a:ln/>
        </p:spPr>
        <p:txBody>
          <a:bodyPr wrap="square"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SmartShelf  ·  A Web-Based Library Management System  ·  HDIT 21193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SmartShelf — Project Proposal</dc:title>
  <dc:subject>PptxGenJS Presentation</dc:subject>
  <dc:creator>SmartShelf Project</dc:creator>
  <cp:lastModifiedBy>SmartShelf Project</cp:lastModifiedBy>
  <cp:revision>1</cp:revision>
  <dcterms:created xsi:type="dcterms:W3CDTF">2026-07-07T17:54:58Z</dcterms:created>
  <dcterms:modified xsi:type="dcterms:W3CDTF">2026-07-07T17:54:58Z</dcterms:modified>
</cp:coreProperties>
</file>